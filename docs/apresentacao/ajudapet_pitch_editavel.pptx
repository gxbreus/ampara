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9219d39f5343f9" /><Relationship Type="http://schemas.openxmlformats.org/officeDocument/2006/relationships/extended-properties" Target="/docProps/app.xml" Id="R6961e5bda99c4cc0" /><Relationship Type="http://schemas.openxmlformats.org/officeDocument/2006/relationships/officeDocument" Target="/ppt/presentation.xml" Id="R601823e600eb4b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1b09d05f884544"/>
  </p:sldMasterIdLst>
  <p:notesMasterIdLst>
    <p:notesMasterId xmlns:r="http://schemas.openxmlformats.org/officeDocument/2006/relationships" r:id="R194dd52559d04aba"/>
  </p:notesMasterIdLst>
  <p:sldIdLst>
    <p:sldId xmlns:r="http://schemas.openxmlformats.org/officeDocument/2006/relationships" id="256" r:id="Rcb6905cec1c94bdb"/>
    <p:sldId xmlns:r="http://schemas.openxmlformats.org/officeDocument/2006/relationships" id="257" r:id="Re59261aa69f84b24"/>
    <p:sldId xmlns:r="http://schemas.openxmlformats.org/officeDocument/2006/relationships" id="258" r:id="R9836d861ef4b4845"/>
    <p:sldId xmlns:r="http://schemas.openxmlformats.org/officeDocument/2006/relationships" id="259" r:id="R758d70a87c124ff1"/>
    <p:sldId xmlns:r="http://schemas.openxmlformats.org/officeDocument/2006/relationships" id="260" r:id="Rb5db6a9612554b3a"/>
    <p:sldId xmlns:r="http://schemas.openxmlformats.org/officeDocument/2006/relationships" id="261" r:id="R5f497eee8d684b61"/>
    <p:sldId xmlns:r="http://schemas.openxmlformats.org/officeDocument/2006/relationships" id="262" r:id="Rebe4d1a179504a02"/>
    <p:sldId xmlns:r="http://schemas.openxmlformats.org/officeDocument/2006/relationships" id="263" r:id="R168ba901360144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7c0e6d078a4299" /><Relationship Type="http://schemas.openxmlformats.org/officeDocument/2006/relationships/slideMaster" Target="/ppt/slideMasters/slideMaster1.xml" Id="Rdc1b09d05f884544" /><Relationship Type="http://schemas.openxmlformats.org/officeDocument/2006/relationships/notesMaster" Target="/ppt/notesMasters/notesMaster1.xml" Id="R194dd52559d04aba" /><Relationship Type="http://schemas.openxmlformats.org/officeDocument/2006/relationships/presProps" Target="/ppt/presProps.xml" Id="Rb0ce9ea0817e4a91" /><Relationship Type="http://schemas.openxmlformats.org/officeDocument/2006/relationships/tableStyles" Target="/ppt/tableStyles.xml" Id="R91997aceb9544605" /><Relationship Type="http://schemas.openxmlformats.org/officeDocument/2006/relationships/slide" Target="/ppt/slides/slide1.xml" Id="Rcb6905cec1c94bdb" /><Relationship Type="http://schemas.openxmlformats.org/officeDocument/2006/relationships/slide" Target="/ppt/slides/slide2.xml" Id="Re59261aa69f84b24" /><Relationship Type="http://schemas.openxmlformats.org/officeDocument/2006/relationships/slide" Target="/ppt/slides/slide3.xml" Id="R9836d861ef4b4845" /><Relationship Type="http://schemas.openxmlformats.org/officeDocument/2006/relationships/slide" Target="/ppt/slides/slide4.xml" Id="R758d70a87c124ff1" /><Relationship Type="http://schemas.openxmlformats.org/officeDocument/2006/relationships/slide" Target="/ppt/slides/slide5.xml" Id="Rb5db6a9612554b3a" /><Relationship Type="http://schemas.openxmlformats.org/officeDocument/2006/relationships/slide" Target="/ppt/slides/slide6.xml" Id="R5f497eee8d684b61" /><Relationship Type="http://schemas.openxmlformats.org/officeDocument/2006/relationships/slide" Target="/ppt/slides/slide7.xml" Id="Rebe4d1a179504a02" /><Relationship Type="http://schemas.openxmlformats.org/officeDocument/2006/relationships/slide" Target="/ppt/slides/slide8.xml" Id="R168ba901360144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3212473ed74b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76b34a6a974051" /><Relationship Type="http://schemas.openxmlformats.org/officeDocument/2006/relationships/notesMaster" Target="/ppt/notesMasters/notesMaster1.xml" Id="R037b377a301c4d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81ba7baa254f8f" /><Relationship Type="http://schemas.openxmlformats.org/officeDocument/2006/relationships/notesMaster" Target="/ppt/notesMasters/notesMaster1.xml" Id="Re3f944f57dd64b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b81fc2410244c6" /><Relationship Type="http://schemas.openxmlformats.org/officeDocument/2006/relationships/notesMaster" Target="/ppt/notesMasters/notesMaster1.xml" Id="R313104e37cf044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deac8896f34918" /><Relationship Type="http://schemas.openxmlformats.org/officeDocument/2006/relationships/notesMaster" Target="/ppt/notesMasters/notesMaster1.xml" Id="Rdd9657f78a5946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e3c728216b4709" /><Relationship Type="http://schemas.openxmlformats.org/officeDocument/2006/relationships/notesMaster" Target="/ppt/notesMasters/notesMaster1.xml" Id="Rfc571d5a8f6446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8081e5207b4289" /><Relationship Type="http://schemas.openxmlformats.org/officeDocument/2006/relationships/notesMaster" Target="/ppt/notesMasters/notesMaster1.xml" Id="R31ceb68011b14f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7cbcd27d88d44fc" /><Relationship Type="http://schemas.openxmlformats.org/officeDocument/2006/relationships/notesMaster" Target="/ppt/notesMasters/notesMaster1.xml" Id="R2cc0f69f09f44f0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e0dcd98b39748f5" /><Relationship Type="http://schemas.openxmlformats.org/officeDocument/2006/relationships/notesMaster" Target="/ppt/notesMasters/notesMaster1.xml" Id="R05e0c5eb029b44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Apresentador 1. Tempo sugerido: 25 segundos.</a:t>
            </a:r>
          </a:p>
          <a:p xmlns:a="http://schemas.openxmlformats.org/drawingml/2006/main">
            <a:r>
              <a:t>A AjudaPet organiza uma rede local de resposta. O projeto conecta quem encontra um animal, quem pode acolher e quem deseja adotar.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Apresentador 1. Tempo sugerido: 40 segundos.</a:t>
            </a:r>
          </a:p>
          <a:p xmlns:a="http://schemas.openxmlformats.org/drawingml/2006/main">
            <a:r>
              <a:t>O foco não é apenas cadastrar animais. O problema está na coordenação: relatos dispersos, protetores sobrecarregados e falta de rastreabilidade do atendimento.</a:t>
            </a:r>
          </a:p>
          <a:p xmlns:a="http://schemas.openxmlformats.org/drawingml/2006/main">
            <a:r>
              <a:t>Fontes: https://www.cfmv.gov.br/combater-os-maus-tratos-aos-animais-e-um-dever-de-todos/comunicacao/noticias/2023/05/04/</a:t>
            </a:r>
          </a:p>
          <a:p xmlns:a="http://schemas.openxmlformats.org/drawingml/2006/main">
            <a:r>
              <a:t>https://www.cfmv.gov.br/dezembro-e-dedicado-a-combater-o-abandono-de-animais/comunicacao/noticias/2020/12/03/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Apresentador 2. Tempo sugerido: 35 segundos.</a:t>
            </a:r>
          </a:p>
          <a:p xmlns:a="http://schemas.openxmlformats.org/drawingml/2006/main">
            <a:r>
              <a:t>Explique que cada público participa do mesmo caso, mas vê ações adequadas ao seu papel. O histórico reduz duplicações e ajuda a medir resultados.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Apresentador 2. Tempo sugerido: 40 segundos.</a:t>
            </a:r>
          </a:p>
          <a:p xmlns:a="http://schemas.openxmlformats.org/drawingml/2006/main">
            <a:r>
              <a:t>Use um exemplo: alguém fotografa um cão perdido, a plataforma avisa usuários próximos, uma ONG aceita a triagem e o caso termina com reencontro ou adoção.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Apresentador 3. Tempo sugerido: 55 segundos.</a:t>
            </a:r>
          </a:p>
          <a:p xmlns:a="http://schemas.openxmlformats.org/drawingml/2006/main">
            <a:r>
              <a:t>Os dois clientes são aplicações independentes. O gateway concentra autenticação e roteamento. Cada microsserviço possui responsabilidade e banco próprios. REST atende consultas imediatas, enquanto eventos no RabbitMQ propagam mudanças sem acoplamento direto.</a:t>
            </a:r>
          </a:p>
          <a:p xmlns:a="http://schemas.openxmlformats.org/drawingml/2006/main">
            <a:r>
              <a:t>As quatro caixas nomeadas são os microsserviços de domínio exigidos. Notificações, mapas e fotos funcionam como infraestrutura de apoio.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Apresentador 3. Tempo sugerido: 50 segundos.</a:t>
            </a:r>
          </a:p>
          <a:p xmlns:a="http://schemas.openxmlformats.org/drawingml/2006/main">
            <a:r>
              <a:t>A SAGA demonstra uma transação real atravessando quatro serviços. Não existe transação única entre os bancos. Cada serviço confirma sua etapa e publica um evento. Em caso de falha, operações compensatórias restauram um estado consistente.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Apresentador 4. Tempo sugerido: 45 segundos.</a:t>
            </a:r>
          </a:p>
          <a:p xmlns:a="http://schemas.openxmlformats.org/drawingml/2006/main">
            <a:r>
              <a:t>A stack proposta reduz a quantidade de linguagens e mantém o foco nos conceitos distribuídos. O aplicativo e o painel são clientes separados. Cada serviço usa sua própria instância de PostgreSQL.</a:t>
            </a:r>
          </a:p>
          <a:p xmlns:a="http://schemas.openxmlformats.org/drawingml/2006/main">
            <a:r>
              <a:t>O repositório deverá conter README, pasta docs, branches por funcionalidade e pull requests revisados por outro integrante.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Apresentador 4. Tempo sugerido: 40 segundos.</a:t>
            </a:r>
          </a:p>
          <a:p xmlns:a="http://schemas.openxmlformats.org/drawingml/2006/main">
            <a:r>
              <a:t>Feche retomando a mensuração. A proposta combina impacto social com uma transação distribuída justificável.</a:t>
            </a:r>
          </a:p>
          <a:p xmlns:a="http://schemas.openxmlformats.org/drawingml/2006/main">
            <a:r>
              <a:t>Referências completas:</a:t>
            </a:r>
          </a:p>
          <a:p xmlns:a="http://schemas.openxmlformats.org/drawingml/2006/main">
            <a:r>
              <a:t>https://www.cfmv.gov.br/combater-os-maus-tratos-aos-animais-e-um-dever-de-todos/comunicacao/noticias/2023/05/04/</a:t>
            </a:r>
          </a:p>
          <a:p xmlns:a="http://schemas.openxmlformats.org/drawingml/2006/main">
            <a:r>
              <a:t>https://www.cfmv.gov.br/cfmv-discute-politicas-de-enfrentamento-ao-abandono-de-animais-no-ministerio-do-meio-ambiente/destaque/2024/03/15/</a:t>
            </a:r>
          </a:p>
          <a:p xmlns:a="http://schemas.openxmlformats.org/drawingml/2006/main">
            <a:r>
              <a:t>https://www.gov.br/saude/pt-br/assuntos/saude-de-a-a-z/r/raiva/raiva-animal</a:t>
            </a:r>
          </a:p>
          <a:p xmlns:a="http://schemas.openxmlformats.org/drawingml/2006/main">
            <a:r>
              <a:t>https://www.scielo.br/j/cr/a/3DqtCTw7BYsnqtFqyqFWndn/?format=html</a:t>
            </a:r>
          </a:p>
          <a:p xmlns:a="http://schemas.openxmlformats.org/drawingml/2006/main">
            <a:r>
              <a:t>https://pubmed.ncbi.nlm.nih.gov/29091961/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3567e92e764a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04860cd73d493c" /><Relationship Type="http://schemas.openxmlformats.org/officeDocument/2006/relationships/slideLayout" Target="/ppt/slideLayouts/slideLayout1.xml" Id="Re425edeef4e042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25edeef4e042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9e381c002f4830" /><Relationship Type="http://schemas.openxmlformats.org/officeDocument/2006/relationships/notesSlide" Target="/ppt/notesSlides/notesSlide1.xml" Id="R71050c33c1844e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56535435184570" /><Relationship Type="http://schemas.openxmlformats.org/officeDocument/2006/relationships/notesSlide" Target="/ppt/notesSlides/notesSlide2.xml" Id="R384fdbb6c60049a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6cfdbf557f444f" /><Relationship Type="http://schemas.openxmlformats.org/officeDocument/2006/relationships/notesSlide" Target="/ppt/notesSlides/notesSlide3.xml" Id="Re11f6cd8942e4e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23ff537e8a4e08" /><Relationship Type="http://schemas.openxmlformats.org/officeDocument/2006/relationships/notesSlide" Target="/ppt/notesSlides/notesSlide4.xml" Id="R107ed6694d3f4d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25034c87344e8c" /><Relationship Type="http://schemas.openxmlformats.org/officeDocument/2006/relationships/notesSlide" Target="/ppt/notesSlides/notesSlide5.xml" Id="R6eea213f387544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2cb58ff1074d03" /><Relationship Type="http://schemas.openxmlformats.org/officeDocument/2006/relationships/notesSlide" Target="/ppt/notesSlides/notesSlide6.xml" Id="R060d1f02b36c48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c1df6b010e49ce" /><Relationship Type="http://schemas.openxmlformats.org/officeDocument/2006/relationships/notesSlide" Target="/ppt/notesSlides/notesSlide7.xml" Id="R8182acc6a533424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bc0d8686e5456e" /><Relationship Type="http://schemas.openxmlformats.org/officeDocument/2006/relationships/notesSlide" Target="/ppt/notesSlides/notesSlide8.xml" Id="Rb2dd3efb8d3d44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31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C5B7AB-37C7-4ECB-A181-37868CDF4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A9D8C0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A9D8C0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8BEA11-8767-4C61-B2BB-217747B7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7524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54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54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AjudaPet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2CAC0C-4B86-4E06-9BF7-AA5E4647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1935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F7F2E8"/>
                </a:solidFill>
                <a:latin typeface="Inter"/>
                <a:ea typeface="Inter"/>
                <a:cs typeface="Inter"/>
              </a:defRPr>
            </a:pPr>
            <a:r>
              <a:rPr sz="2250" b="0">
                <a:solidFill>
                  <a:srgbClr val="F7F2E8"/>
                </a:solidFill>
                <a:latin typeface="Inter"/>
                <a:ea typeface="Inter"/>
                <a:cs typeface="Inter"/>
              </a:rPr>
              <a:t>Resposta coordenada para animais perdidos, abandonados e em busca de adoção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A107C4-35FF-4FC2-9B66-AA45BE40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14850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A9D8C0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A9D8C0"/>
                </a:solidFill>
                <a:latin typeface="Inter"/>
                <a:ea typeface="Inter"/>
                <a:cs typeface="Inter"/>
              </a:rPr>
              <a:t>Pessoas encontram. Protetores acolhem. Famílias adotam.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09558F-EFC3-4118-8C34-DBC55B3A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666875"/>
            <a:ext cx="1571625" cy="1571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6F5B"/>
          </a:solidFill>
          <a:ln xmlns:a="http://schemas.openxmlformats.org/drawingml/2006/main" w="14288">
            <a:solidFill>
              <a:srgbClr val="F36F5B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0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40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E3EB70-E96D-48B1-92FE-67CA85BF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57625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F7F2E8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F7F2E8"/>
                </a:solidFill>
                <a:latin typeface="Inter"/>
                <a:ea typeface="Inter"/>
                <a:cs typeface="Inter"/>
              </a:rPr>
              <a:t>Pitch de concepção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F7F2E8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F7F2E8"/>
                </a:solidFill>
                <a:latin typeface="Inter"/>
                <a:ea typeface="Inter"/>
                <a:cs typeface="Inter"/>
              </a:rPr>
              <a:t>17 de setembro de 2026</a:t>
            </a:r>
          </a:p>
        </p:txBody>
      </p:sp>
    </p:spTree>
    <p:extLst>
      <p:ext uri="{BB962C8B-B14F-4D97-AF65-F5344CB8AC3E}">
        <p14:creationId xmlns:p14="http://schemas.microsoft.com/office/powerpoint/2010/main" val="15793230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3A1372-E306-4402-8870-0598C0B8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255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O problema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11941E-BF1D-4EC8-8B13-C095E6F2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235347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235347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F9437-1969-4393-96AA-AA82973C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F746D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5F746D"/>
                </a:solidFill>
                <a:latin typeface="Inter"/>
                <a:ea typeface="Inter"/>
                <a:cs typeface="Inter"/>
              </a:rPr>
              <a:t>AjudaPet / Sistemas Distribuídos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A107B3-6F2F-4FFD-8600-F566C61E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86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235347"/>
                </a:solidFill>
                <a:latin typeface="Inter"/>
                <a:ea typeface="Inter"/>
                <a:cs typeface="Inter"/>
              </a:defRPr>
            </a:pPr>
            <a:r>
              <a:rPr sz="2175" b="1">
                <a:solidFill>
                  <a:srgbClr val="235347"/>
                </a:solidFill>
                <a:latin typeface="Inter"/>
                <a:ea typeface="Inter"/>
                <a:cs typeface="Inter"/>
              </a:rPr>
              <a:t>A informação existe, mas chega fragmentada e tarde demais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81E24F-AE2C-4F16-950E-51EDD2C9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2238375" cy="100012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BE6E1"/>
          </a:solidFill>
          <a:ln xmlns:a="http://schemas.openxmlformats.org/drawingml/2006/main" w="14288">
            <a:solidFill>
              <a:srgbClr val="F36F5B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Animal perdido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ou abandonado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3B8D0C-CA00-48DB-9BE8-40544614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171700"/>
            <a:ext cx="2238375" cy="100012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AD8D1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9401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Publicações espalhadas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em redes sociais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E58DAD-63D2-4F7C-A469-4826113F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71700"/>
            <a:ext cx="2286000" cy="100012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AD8D1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9401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ONGs com capacidade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e recursos limitados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AA0B0E-95FC-4C69-9744-9606C92C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71700"/>
            <a:ext cx="2095500" cy="100012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BE6E1"/>
          </a:solidFill>
          <a:ln xmlns:a="http://schemas.openxmlformats.org/drawingml/2006/main" w="14288">
            <a:solidFill>
              <a:srgbClr val="F36F5B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Resposta lenta 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sem acompanhamento</a:t>
            </a:r>
          </a:p>
        </p:txBody>
      </p:sp>
      <p:cxnSp>
        <p:nvCxnSpPr>
          <p:cNvPr id="2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981325" y="2671763"/>
            <a:ext cx="828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46D"/>
            </a:solidFill>
            <a:prstDash val="solid"/>
            <a:tailEnd type="triangle" w="sm" len="sm"/>
          </a:ln>
        </p:spPr>
      </p:cxnSp>
      <p:cxnSp>
        <p:nvCxnSpPr>
          <p:cNvPr id="2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048375" y="2671763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46D"/>
            </a:solidFill>
            <a:prstDash val="solid"/>
            <a:tailEnd type="triangle" w="sm" len="sm"/>
          </a:ln>
        </p:spPr>
      </p:cxn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953500" y="267176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46D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D3993A-B6D0-40C1-A0DE-2AD98776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225" b="1">
                <a:solidFill>
                  <a:srgbClr val="F36F5B"/>
                </a:solidFill>
                <a:latin typeface="Inter"/>
                <a:ea typeface="Inter"/>
                <a:cs typeface="Inter"/>
              </a:defRPr>
            </a:pPr>
            <a:r>
              <a:rPr sz="3225" b="1">
                <a:solidFill>
                  <a:srgbClr val="F36F5B"/>
                </a:solidFill>
                <a:latin typeface="Inter"/>
                <a:ea typeface="Inter"/>
                <a:cs typeface="Inter"/>
              </a:rPr>
              <a:t>185 mil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4F6EE1-A960-479E-882F-0548F091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4381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8312B"/>
                </a:solidFill>
                <a:latin typeface="Inter"/>
                <a:ea typeface="Inter"/>
                <a:cs typeface="Inter"/>
              </a:rPr>
              <a:t>animais estavam sob tutela de ONGs ou grupos de protetores no levantamento citado pelo CFMV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5ABCBF-F2F8-491C-91B4-B0CFCDD2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71950"/>
            <a:ext cx="4762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1">
                <a:solidFill>
                  <a:srgbClr val="235347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235347"/>
                </a:solidFill>
                <a:latin typeface="Inter"/>
                <a:ea typeface="Inter"/>
                <a:cs typeface="Inter"/>
              </a:rPr>
              <a:t>O abandono afeta o bem-estar animal e também traz riscos relacionados a zoonoses, acidentes e agressões.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EB3616-270D-4022-968A-54537683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245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5F746D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F746D"/>
                </a:solidFill>
                <a:latin typeface="Inter"/>
                <a:ea typeface="Inter"/>
                <a:cs typeface="Inter"/>
              </a:rPr>
              <a:t>Fonte: CFMV, 2020 e 2023</a:t>
            </a:r>
          </a:p>
        </p:txBody>
      </p:sp>
    </p:spTree>
    <p:extLst>
      <p:ext uri="{BB962C8B-B14F-4D97-AF65-F5344CB8AC3E}">
        <p14:creationId xmlns:p14="http://schemas.microsoft.com/office/powerpoint/2010/main" val="475133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AF5371-AB46-4DAB-B0A6-C148ED5D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255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Públicos e proposta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4F6DDB-439C-48B0-80AA-751A44B0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235347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235347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EB70DC-B608-4D04-8E5C-32FC5025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F746D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5F746D"/>
                </a:solidFill>
                <a:latin typeface="Inter"/>
                <a:ea typeface="Inter"/>
                <a:cs typeface="Inter"/>
              </a:rPr>
              <a:t>AjudaPet / Sistemas Distribuídos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2C2056-7256-45C3-A386-A49FFB45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235347"/>
                </a:solidFill>
                <a:latin typeface="Inter"/>
                <a:ea typeface="Inter"/>
                <a:cs typeface="Inter"/>
              </a:defRPr>
            </a:pPr>
            <a:r>
              <a:rPr sz="2175" b="1">
                <a:solidFill>
                  <a:srgbClr val="235347"/>
                </a:solidFill>
                <a:latin typeface="Inter"/>
                <a:ea typeface="Inter"/>
                <a:cs typeface="Inter"/>
              </a:rPr>
              <a:t>Uma rede com papéis claros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457C8C-ABBD-4774-89BF-8C0A392B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24765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9D8C0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Cidadão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registra e acompanha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B75C1A-2AF0-47D7-A240-780AD014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076450"/>
            <a:ext cx="24765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9D8C0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Tutor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recebe alertas locais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F6BFC9-F180-4F86-BE31-13A0996D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76450"/>
            <a:ext cx="24765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9D8C0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Protetor ou ONG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triam e acolhem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4B4905-F9BE-4917-9EB4-3BA934B3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076450"/>
            <a:ext cx="238125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9D8C0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Adotante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passa por avaliação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F090B5-0D8A-4D52-ACC8-DE5151BD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24325"/>
            <a:ext cx="10172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2025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A AjudaPet concentra ocorrências geolocalizadas, disponibilidade de acolhimento e processos de adoção em um histórico único para cada caso.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5B94E5-4C2B-4FF5-BC91-1A4657A6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524500"/>
            <a:ext cx="861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36F5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F36F5B"/>
                </a:solidFill>
                <a:latin typeface="Inter"/>
                <a:ea typeface="Inter"/>
                <a:cs typeface="Inter"/>
              </a:rPr>
              <a:t>Valor principal: reduzir o tempo entre o registro e uma solução segura para o animal.</a:t>
            </a:r>
          </a:p>
        </p:txBody>
      </p:sp>
    </p:spTree>
    <p:extLst>
      <p:ext uri="{BB962C8B-B14F-4D97-AF65-F5344CB8AC3E}">
        <p14:creationId xmlns:p14="http://schemas.microsoft.com/office/powerpoint/2010/main" val="486993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AE4ED6-5355-4475-AF75-4BBD60D6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255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Como funciona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FE902C-D1BE-475F-84C3-ED58EC6A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235347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235347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0AA19F-00A0-49DA-A29D-94D1B2A4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F746D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5F746D"/>
                </a:solidFill>
                <a:latin typeface="Inter"/>
                <a:ea typeface="Inter"/>
                <a:cs typeface="Inter"/>
              </a:rPr>
              <a:t>AjudaPet / Sistemas Distribuídos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07E098-7FA0-4EF0-83C2-919B5097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4287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347"/>
          </a:solidFill>
          <a:ln xmlns:a="http://schemas.openxmlformats.org/drawingml/2006/main" w="14288">
            <a:solidFill>
              <a:srgbClr val="235347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827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163385-EDCF-46FE-83D9-513657B5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952625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9D8C0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Registro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foto, local e situação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34CF40-8F74-4038-BD64-7A6A62F5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4287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347"/>
          </a:solidFill>
          <a:ln xmlns:a="http://schemas.openxmlformats.org/drawingml/2006/main" w="14288">
            <a:solidFill>
              <a:srgbClr val="235347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827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5E764F-197D-4AAE-9D91-C37D6C78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33625"/>
            <a:ext cx="1952625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9D8C0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Alerta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pessoas e protetores próximos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0F6D52-6591-4868-B623-E4327E05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4287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347"/>
          </a:solidFill>
          <a:ln xmlns:a="http://schemas.openxmlformats.org/drawingml/2006/main" w="14288">
            <a:solidFill>
              <a:srgbClr val="235347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827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607B3E-CCE5-4E79-81FE-A54A1BDC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33625"/>
            <a:ext cx="1952625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9D8C0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Triagem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urgência e capacidade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118525-F319-429F-AA5F-76FA94A2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287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347"/>
          </a:solidFill>
          <a:ln xmlns:a="http://schemas.openxmlformats.org/drawingml/2006/main" w="14288">
            <a:solidFill>
              <a:srgbClr val="235347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827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D81260-C35E-47F3-8A8B-30134F0C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33625"/>
            <a:ext cx="1952625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9D8C0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Acolhimento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responsável e histórico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075DD6-E4A2-43B9-819C-B13394E5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4287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6F5B"/>
          </a:solidFill>
          <a:ln xmlns:a="http://schemas.openxmlformats.org/drawingml/2006/main" w="14288">
            <a:solidFill>
              <a:srgbClr val="F36F5B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827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99A49B-0B49-4201-9BCD-C8407E01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33625"/>
            <a:ext cx="1952625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BE6E1"/>
          </a:solidFill>
          <a:ln xmlns:a="http://schemas.openxmlformats.org/drawingml/2006/main" w="14288">
            <a:solidFill>
              <a:srgbClr val="F36F5B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Desfecho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reencontro ou adoção</a:t>
            </a:r>
          </a:p>
        </p:txBody>
      </p:sp>
      <p:cxnSp>
        <p:nvCxnSpPr>
          <p:cNvPr id="33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657475" y="3000375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46D"/>
            </a:solidFill>
            <a:prstDash val="soli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867275" y="3000375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46D"/>
            </a:solidFill>
            <a:prstDash val="soli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077075" y="3000375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46D"/>
            </a:solidFill>
            <a:prstDash val="soli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9286875" y="3000375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46D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5F3D59-BD3A-4480-A1D5-7F0FD2E0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672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235347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235347"/>
                </a:solidFill>
                <a:latin typeface="Inter"/>
                <a:ea typeface="Inter"/>
                <a:cs typeface="Inter"/>
              </a:rPr>
              <a:t>Cada mudança de estado gera um evento e mantém todos os participantes atualizados.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09FE69-2FF3-4411-ACDD-1718E782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391150"/>
            <a:ext cx="628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5F746D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5F746D"/>
                </a:solidFill>
                <a:latin typeface="Inter"/>
                <a:ea typeface="Inter"/>
                <a:cs typeface="Inter"/>
              </a:rPr>
              <a:t>O caso só termina quando existe um desfecho registrado.</a:t>
            </a:r>
          </a:p>
        </p:txBody>
      </p:sp>
    </p:spTree>
    <p:extLst>
      <p:ext uri="{BB962C8B-B14F-4D97-AF65-F5344CB8AC3E}">
        <p14:creationId xmlns:p14="http://schemas.microsoft.com/office/powerpoint/2010/main" val="17108110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831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1D854A-C902-4B6C-A4BF-D5D5BD42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5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Arquitetura proposta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87921D-BFAC-4114-841E-45219D45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A9D8C0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A9D8C0"/>
                </a:solidFill>
                <a:latin typeface="Inter"/>
                <a:ea typeface="Inter"/>
                <a:cs typeface="Inter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148426-3220-4906-87EA-D0B8174A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A9D8C0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A9D8C0"/>
                </a:solidFill>
                <a:latin typeface="Inter"/>
                <a:ea typeface="Inter"/>
                <a:cs typeface="Inter"/>
              </a:rPr>
              <a:t>AjudaPet / Sistemas Distribuídos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E8AFE0-CF94-46FF-B2BA-C24C20DD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62050"/>
            <a:ext cx="2333625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7F2E8"/>
          </a:solidFill>
          <a:ln xmlns:a="http://schemas.openxmlformats.org/drawingml/2006/main" w="14288">
            <a:solidFill>
              <a:srgbClr val="F7F2E8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997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Aplicativo mobile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Cidadãos e adotantes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9F8D70-B561-42B5-8DBB-0E7C2194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123950"/>
            <a:ext cx="238125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36F5B"/>
          </a:solidFill>
          <a:ln xmlns:a="http://schemas.openxmlformats.org/drawingml/2006/main" w="14288">
            <a:solidFill>
              <a:srgbClr val="F36F5B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8393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API Gateway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Autenticação e roteamento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B2A709-62A1-4AF8-9BF6-BA6EEE74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1162050"/>
            <a:ext cx="2333625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7F2E8"/>
          </a:solidFill>
          <a:ln xmlns:a="http://schemas.openxmlformats.org/drawingml/2006/main" w="14288">
            <a:solidFill>
              <a:srgbClr val="F7F2E8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Painel web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ONGs e protetores</a:t>
            </a:r>
          </a:p>
        </p:txBody>
      </p:sp>
      <p:cxnSp>
        <p:nvCxnSpPr>
          <p:cNvPr id="2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981325" y="1571625"/>
            <a:ext cx="1924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9D8C0"/>
            </a:solidFill>
            <a:prstDash val="solid"/>
            <a:tailEnd type="triangle" w="sm" len="sm"/>
          </a:ln>
        </p:spPr>
      </p:cxnSp>
      <p:cxnSp>
        <p:nvCxnSpPr>
          <p:cNvPr id="28" name=""/>
          <p:cNvCxnSpPr>
            <a:stCxn xmlns:a="http://schemas.openxmlformats.org/drawingml/2006/main" id="6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7286625" y="1571625"/>
            <a:ext cx="1924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9D8C0"/>
            </a:solidFill>
            <a:prstDash val="solid"/>
            <a:tailEnd type="triangle" w="sm" len="sm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CFB761-BFCA-4A5B-A554-50E16AEB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982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A9D8C0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A9D8C0"/>
                </a:solidFill>
                <a:latin typeface="Inter"/>
                <a:ea typeface="Inter"/>
                <a:cs typeface="Inter"/>
              </a:rPr>
              <a:t>4 MICROSSERVIÇOS DE DOMÍNIO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8AC1A0-4FD8-4941-AD96-32810328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76550"/>
            <a:ext cx="2333625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9D8C0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Ocorrências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localização e alertas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PostgreSQL 01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instância própria</a:t>
            </a:r>
          </a:p>
        </p:txBody>
      </p:sp>
      <p:cxnSp>
        <p:nvCxnSpPr>
          <p:cNvPr id="31" name=""/>
          <p:cNvCxnSpPr>
            <a:stCxn xmlns:a="http://schemas.openxmlformats.org/drawingml/2006/main" id="5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1738313" y="2019300"/>
            <a:ext cx="4357688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A9D8C0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C61EF3-9DE5-4E3F-B2CE-00D88D22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76550"/>
            <a:ext cx="2333625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9D8C0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Animais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perfil, saúde e estado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PostgreSQL 02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instância própria</a:t>
            </a:r>
          </a:p>
        </p:txBody>
      </p:sp>
      <p:cxnSp>
        <p:nvCxnSpPr>
          <p:cNvPr id="33" name=""/>
          <p:cNvCxnSpPr>
            <a:stCxn xmlns:a="http://schemas.openxmlformats.org/drawingml/2006/main" id="5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H="1">
            <a:off x="4643438" y="2019300"/>
            <a:ext cx="1452563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A9D8C0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5DF47D-891C-4C8C-B556-F10026FA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76550"/>
            <a:ext cx="2333625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9D8C0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Acolhimento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ONGs, vagas e entrada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PostgreSQL 03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instância própria</a:t>
            </a:r>
          </a:p>
        </p:txBody>
      </p:sp>
      <p:cxnSp>
        <p:nvCxnSpPr>
          <p:cNvPr id="35" name=""/>
          <p:cNvCxnSpPr>
            <a:stCxn xmlns:a="http://schemas.openxmlformats.org/drawingml/2006/main" id="5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6096000" y="2019300"/>
            <a:ext cx="1452563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A9D8C0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1142EB-E325-43B3-AC86-CEF62EBA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876550"/>
            <a:ext cx="2333625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9D8C0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Adoções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candidatura e termo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PostgreSQL 04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instância própria</a:t>
            </a:r>
          </a:p>
        </p:txBody>
      </p:sp>
      <p:cxnSp>
        <p:nvCxnSpPr>
          <p:cNvPr id="37" name=""/>
          <p:cNvCxnSpPr>
            <a:stCxn xmlns:a="http://schemas.openxmlformats.org/drawingml/2006/main" id="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6096000" y="2019300"/>
            <a:ext cx="4357688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A9D8C0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B767D6-EC14-428A-B500-2B14B8F0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53000"/>
            <a:ext cx="704850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5B84B"/>
          </a:solidFill>
          <a:ln xmlns:a="http://schemas.openxmlformats.org/drawingml/2006/main" w="14288">
            <a:solidFill>
              <a:srgbClr val="F5B84B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RabbitMQ / eventos de domínio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59B3CA-856F-4316-8174-783DFD79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619750"/>
            <a:ext cx="771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F7F2E8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F7F2E8"/>
                </a:solidFill>
                <a:latin typeface="Inter"/>
                <a:ea typeface="Inter"/>
                <a:cs typeface="Inter"/>
              </a:rPr>
              <a:t>Os serviços publicam e consomem eventos sem acessar o banco de outro domínio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63A30A-9AB3-419C-9186-FE12AD34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F7F2E8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F7F2E8"/>
                </a:solidFill>
                <a:latin typeface="Inter"/>
                <a:ea typeface="Inter"/>
                <a:cs typeface="Inter"/>
              </a:rPr>
              <a:t>Fotos: S3 compatível  /  Mapas: provedor de geolocalização  /  Notificações: e-mail e push</a:t>
            </a:r>
          </a:p>
        </p:txBody>
      </p:sp>
    </p:spTree>
    <p:extLst>
      <p:ext uri="{BB962C8B-B14F-4D97-AF65-F5344CB8AC3E}">
        <p14:creationId xmlns:p14="http://schemas.microsoft.com/office/powerpoint/2010/main" val="15726593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FFD9AD-4362-4041-AD75-90D759CA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255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SAGA de conclusão da adoção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63F3BA-EF89-40AD-AA67-DC5E058B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235347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235347"/>
                </a:solidFill>
                <a:latin typeface="Inter"/>
                <a:ea typeface="Inter"/>
                <a:cs typeface="Inter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F51861-BADA-4482-9D7A-52C6B346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F746D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5F746D"/>
                </a:solidFill>
                <a:latin typeface="Inter"/>
                <a:ea typeface="Inter"/>
                <a:cs typeface="Inter"/>
              </a:rPr>
              <a:t>AjudaPet / Sistemas Distribuídos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CC8E7E-C5BC-4352-AD00-B70FEB18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235347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235347"/>
                </a:solidFill>
                <a:latin typeface="Inter"/>
                <a:ea typeface="Inter"/>
                <a:cs typeface="Inter"/>
              </a:rPr>
              <a:t>Uma adoção altera quatro domínios sem compartilhar banco de dados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6CCB34-196B-4F2E-B922-34B1D8FA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1943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36F5B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F36F5B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B24E5B-597A-42B0-8F61-7F799663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2362200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9D8C0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Adoções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aprova a candidatura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B6D952-62DD-41C4-9D29-0A7B2735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43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36F5B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F36F5B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CF5B39-F23B-4B7E-8BE5-B2F04300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62200"/>
            <a:ext cx="2362200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9D8C0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Animais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marca como adotado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13432E-CCB5-4ADD-B0ED-10626454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943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36F5B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F36F5B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CA97E4-3482-44A7-A7EC-7EE86F16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62200"/>
            <a:ext cx="2362200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9D8C0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Acolhimento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libera a vaga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E32EB8-FCD3-4BE2-B30B-9CEB8BC2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1943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36F5B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F36F5B"/>
                </a:solidFill>
                <a:latin typeface="Inter"/>
                <a:ea typeface="Inter"/>
                <a:cs typeface="Inter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300FDE-2A97-4893-85BA-FEE922C5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62200"/>
            <a:ext cx="2362200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9D8C0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Ocorrências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encerra o caso original</a:t>
            </a:r>
          </a:p>
        </p:txBody>
      </p:sp>
      <p:cxnSp>
        <p:nvCxnSpPr>
          <p:cNvPr id="31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048000" y="29146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5347"/>
            </a:solidFill>
            <a:prstDash val="solid"/>
            <a:tail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886450" y="29146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5347"/>
            </a:solidFill>
            <a:prstDash val="soli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724900" y="29146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5347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06E968-D286-47B6-91F5-08697AFF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0075"/>
            <a:ext cx="238125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FBE6E1"/>
          </a:solidFill>
          <a:ln xmlns:a="http://schemas.openxmlformats.org/drawingml/2006/main" w="14288">
            <a:solidFill>
              <a:srgbClr val="F36F5B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36F5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F36F5B"/>
                </a:solidFill>
                <a:latin typeface="Inter"/>
                <a:ea typeface="Inter"/>
                <a:cs typeface="Inter"/>
              </a:rPr>
              <a:t>Se uma etapa falhar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E54CFD-3810-4C29-8751-F48C02F9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52925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a SAGA executa compensações: reabre o caso, restaura a vaga e devolve o animal ao estado disponível.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4EA56D-CB9C-4EB3-A7E5-EC874080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1975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5F746D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5F746D"/>
                </a:solidFill>
                <a:latin typeface="Inter"/>
                <a:ea typeface="Inter"/>
                <a:cs typeface="Inter"/>
              </a:rPr>
              <a:t>O histórico de eventos permite rastrear cada passo e evitar estados contraditórios.</a:t>
            </a:r>
          </a:p>
        </p:txBody>
      </p:sp>
    </p:spTree>
    <p:extLst>
      <p:ext uri="{BB962C8B-B14F-4D97-AF65-F5344CB8AC3E}">
        <p14:creationId xmlns:p14="http://schemas.microsoft.com/office/powerpoint/2010/main" val="16883327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A8843B-2130-48D1-A2D3-DC8417F2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255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Base técnica e entrega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C74917-BD5F-4678-A500-3009EB4C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235347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235347"/>
                </a:solidFill>
                <a:latin typeface="Inter"/>
                <a:ea typeface="Inter"/>
                <a:cs typeface="Inter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CB3CEF-BB0F-468B-808F-9B341595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F746D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5F746D"/>
                </a:solidFill>
                <a:latin typeface="Inter"/>
                <a:ea typeface="Inter"/>
                <a:cs typeface="Inter"/>
              </a:rPr>
              <a:t>AjudaPet / Sistemas Distribuídos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F71325-0F9C-4A8A-BBDB-EF644847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6207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36F5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F36F5B"/>
                </a:solidFill>
                <a:latin typeface="Inter"/>
                <a:ea typeface="Inter"/>
                <a:cs typeface="Inter"/>
              </a:rPr>
              <a:t>Clientes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9B2427-AAA9-4B36-A8A8-570A0100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219200"/>
            <a:ext cx="571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React Native com Expo no aplicativo mobile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React com TypeScript no painel web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88CFF3-D90F-40B9-A79F-DE15DB9F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36F5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F36F5B"/>
                </a:solidFill>
                <a:latin typeface="Inter"/>
                <a:ea typeface="Inter"/>
                <a:cs typeface="Inter"/>
              </a:rPr>
              <a:t>Backend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021935-9A97-4CD2-BE2B-EC9FEFA4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85975"/>
            <a:ext cx="571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18312B"/>
                </a:solidFill>
                <a:latin typeface="Inter"/>
                <a:ea typeface="Inter"/>
                <a:cs typeface="Inter"/>
              </a:rPr>
              <a:t>NestJS com TypeScript em quatro serviços independentes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05AB7A-FE3E-488E-8222-602FE5FC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956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36F5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F36F5B"/>
                </a:solidFill>
                <a:latin typeface="Inter"/>
                <a:ea typeface="Inter"/>
                <a:cs typeface="Inter"/>
              </a:rPr>
              <a:t>Dados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B3A396-D27B-417E-AB46-D1495E16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952750"/>
            <a:ext cx="571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18312B"/>
                </a:solidFill>
                <a:latin typeface="Inter"/>
                <a:ea typeface="Inter"/>
                <a:cs typeface="Inter"/>
              </a:rPr>
              <a:t>PostgreSQL com uma instância separada por microsserviço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05492E-CCD6-4165-B338-AB33F835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36F5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F36F5B"/>
                </a:solidFill>
                <a:latin typeface="Inter"/>
                <a:ea typeface="Inter"/>
                <a:cs typeface="Inter"/>
              </a:rPr>
              <a:t>Integração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CF1207-50FA-43EF-9502-C82CFDDC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819525"/>
            <a:ext cx="571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18312B"/>
                </a:solidFill>
                <a:latin typeface="Inter"/>
                <a:ea typeface="Inter"/>
                <a:cs typeface="Inter"/>
              </a:rPr>
              <a:t>API Gateway para REST e RabbitMQ para eventos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07BEA6-384A-4F9F-99EB-366FF654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2917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36F5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F36F5B"/>
                </a:solidFill>
                <a:latin typeface="Inter"/>
                <a:ea typeface="Inter"/>
                <a:cs typeface="Inter"/>
              </a:rPr>
              <a:t>Operação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2C7742-2E25-4342-88F9-788C3D2D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686300"/>
            <a:ext cx="571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18312B"/>
                </a:solidFill>
                <a:latin typeface="Inter"/>
                <a:ea typeface="Inter"/>
                <a:cs typeface="Inter"/>
              </a:rPr>
              <a:t>Docker Compose, testes automatizados e GitHub Actions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FC7378-EFCB-459C-BE87-E72F78E1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352550"/>
            <a:ext cx="2095500" cy="6477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235347"/>
          </a:solidFill>
          <a:ln xmlns:a="http://schemas.openxmlformats.org/drawingml/2006/main" w="14288">
            <a:solidFill>
              <a:srgbClr val="235347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GitHub público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C07095-6450-45C1-BF1D-2F4D442B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305050"/>
            <a:ext cx="2095500" cy="6477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9D8C0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Branch por feature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0D8863-FE38-4D6B-9626-1C7CDDC8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257550"/>
            <a:ext cx="2095500" cy="6477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9D8C0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PR com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A6A9CD-B246-45F8-984E-EA307000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210050"/>
            <a:ext cx="2095500" cy="6477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9D8C0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867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8312B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8312B"/>
                </a:solidFill>
                <a:latin typeface="Inter"/>
                <a:ea typeface="Inter"/>
                <a:cs typeface="Inter"/>
              </a:rPr>
              <a:t>Commits dos 4 membros</a:t>
            </a:r>
          </a:p>
        </p:txBody>
      </p:sp>
    </p:spTree>
    <p:extLst>
      <p:ext uri="{BB962C8B-B14F-4D97-AF65-F5344CB8AC3E}">
        <p14:creationId xmlns:p14="http://schemas.microsoft.com/office/powerpoint/2010/main" val="9722058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831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2AD706-AFEF-4B1B-B564-4ABD15AB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5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Impacto que pode ser medido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5B506D-E1B2-4333-A825-C8E3BCF9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A9D8C0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A9D8C0"/>
                </a:solidFill>
                <a:latin typeface="Inter"/>
                <a:ea typeface="Inter"/>
                <a:cs typeface="Inter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DBED1A-D09C-4794-81DB-C5A98CCE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A9D8C0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A9D8C0"/>
                </a:solidFill>
                <a:latin typeface="Inter"/>
                <a:ea typeface="Inter"/>
                <a:cs typeface="Inter"/>
              </a:rPr>
              <a:t>AjudaPet / Sistemas Distribuídos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DF48DE-F1D7-4BEC-9C7E-DE7CA67A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790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A9D8C0"/>
                </a:solidFill>
                <a:latin typeface="Inter"/>
                <a:ea typeface="Inter"/>
                <a:cs typeface="Inter"/>
              </a:defRPr>
            </a:pPr>
            <a:r>
              <a:rPr sz="2175" b="1">
                <a:solidFill>
                  <a:srgbClr val="A9D8C0"/>
                </a:solidFill>
                <a:latin typeface="Inter"/>
                <a:ea typeface="Inter"/>
                <a:cs typeface="Inter"/>
              </a:rPr>
              <a:t>Resultados acompanhados desde o primeiro caso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FB44E1-AF91-44B0-9D91-430A153F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36F5B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F36F5B"/>
                </a:solidFill>
                <a:latin typeface="Inter"/>
                <a:ea typeface="Inter"/>
                <a:cs typeface="Inter"/>
              </a:rPr>
              <a:t>Tempo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C9BA24-5771-4B08-85B2-050EF492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3000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7F2E8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F7F2E8"/>
                </a:solidFill>
                <a:latin typeface="Inter"/>
                <a:ea typeface="Inter"/>
                <a:cs typeface="Inter"/>
              </a:rPr>
              <a:t>do registro ao primeiro atendimento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016483-554B-45B5-9FB0-4DA4340A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1962150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36F5B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F36F5B"/>
                </a:solidFill>
                <a:latin typeface="Inter"/>
                <a:ea typeface="Inter"/>
                <a:cs typeface="Inter"/>
              </a:rPr>
              <a:t>Desfecho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095D53-F9E3-462E-87DA-A1D0FC7B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362200"/>
            <a:ext cx="3000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7F2E8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F7F2E8"/>
                </a:solidFill>
                <a:latin typeface="Inter"/>
                <a:ea typeface="Inter"/>
                <a:cs typeface="Inter"/>
              </a:rPr>
              <a:t>reencontros e adoções concluídas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DA54BD-A894-42B4-A658-235B65D3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36F5B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F36F5B"/>
                </a:solidFill>
                <a:latin typeface="Inter"/>
                <a:ea typeface="Inter"/>
                <a:cs typeface="Inter"/>
              </a:rPr>
              <a:t>Rede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F76799-F2F2-44D4-8A93-0FCCB324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3000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7F2E8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F7F2E8"/>
                </a:solidFill>
                <a:latin typeface="Inter"/>
                <a:ea typeface="Inter"/>
                <a:cs typeface="Inter"/>
              </a:rPr>
              <a:t>alertas atendidos e vagas mobilizadas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6543F5-41D9-44AC-8673-F8CB2A7A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200400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36F5B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F36F5B"/>
                </a:solidFill>
                <a:latin typeface="Inter"/>
                <a:ea typeface="Inter"/>
                <a:cs typeface="Inter"/>
              </a:rPr>
              <a:t>Qualidade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E81DA3-9139-4080-804D-5963D69B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600450"/>
            <a:ext cx="3000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7F2E8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F7F2E8"/>
                </a:solidFill>
                <a:latin typeface="Inter"/>
                <a:ea typeface="Inter"/>
                <a:cs typeface="Inter"/>
              </a:rPr>
              <a:t>devoluções e acompanhamento pós-adoção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6E8B57-4ECA-46E9-A1D0-82741F6B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1620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5B84B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5B84B"/>
                </a:solidFill>
                <a:latin typeface="Inter"/>
                <a:ea typeface="Inter"/>
                <a:cs typeface="Inter"/>
              </a:rPr>
              <a:t>Referências para o pitch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35830F-59C8-4D17-9EC8-821AC415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14500"/>
            <a:ext cx="3333750" cy="354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F7F2E8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F7F2E8"/>
                </a:solidFill>
                <a:latin typeface="Inter"/>
                <a:ea typeface="Inter"/>
                <a:cs typeface="Inter"/>
              </a:rPr>
              <a:t>CFMV. Combater os maus-tratos aos animais, 2023.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F7F2E8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F7F2E8"/>
                </a:solidFill>
                <a:latin typeface="Inter"/>
                <a:ea typeface="Inter"/>
                <a:cs typeface="Inter"/>
              </a:rPr>
              <a:t>CFMV. Políticas de enfrentamento ao abandono, 2024.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F7F2E8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F7F2E8"/>
                </a:solidFill>
                <a:latin typeface="Inter"/>
                <a:ea typeface="Inter"/>
                <a:cs typeface="Inter"/>
              </a:rPr>
              <a:t>Ministério da Saúde. Raiva Animal, consulta em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F7F2E8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F7F2E8"/>
                </a:solidFill>
                <a:latin typeface="Inter"/>
                <a:ea typeface="Inter"/>
                <a:cs typeface="Inter"/>
              </a:rPr>
              <a:t>Belo et al. Demografia de cães e gatos em Votorantim. Ciência Rural, 2015.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F7F2E8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F7F2E8"/>
                </a:solidFill>
                <a:latin typeface="Inter"/>
                <a:ea typeface="Inter"/>
                <a:cs typeface="Inter"/>
              </a:rPr>
              <a:t>Dias et al. Cães de vida livre e esterilização no Brasil. Preventive Veterinary Medicine, 2017.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278E32-D2D8-49EC-9D82-1EEC4C6C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AjudaPet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33E26B-5577-4788-9227-0FDC1EDA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A9D8C0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A9D8C0"/>
                </a:solidFill>
                <a:latin typeface="Inter"/>
                <a:ea typeface="Inter"/>
                <a:cs typeface="Inter"/>
              </a:rPr>
              <a:t>Coordenação local para proteção animal</a:t>
            </a:r>
          </a:p>
        </p:txBody>
      </p:sp>
    </p:spTree>
    <p:extLst>
      <p:ext uri="{BB962C8B-B14F-4D97-AF65-F5344CB8AC3E}">
        <p14:creationId xmlns:p14="http://schemas.microsoft.com/office/powerpoint/2010/main" val="18351847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2026-09-11T16:44:19.9920000Z</dcterms:created>
  <dcterms:modified xsi:type="dcterms:W3CDTF">2026-09-11T16:44:19.9920000Z</dcterms:modified>
</coreProperties>
</file>