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bee9ac04e494039" /><Relationship Type="http://schemas.openxmlformats.org/officeDocument/2006/relationships/extended-properties" Target="/docProps/app.xml" Id="R99494a2a6728492d" /><Relationship Type="http://schemas.openxmlformats.org/officeDocument/2006/relationships/officeDocument" Target="/ppt/presentation.xml" Id="Rbbe725cdf3b9453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655d64ec5f94a9b"/>
  </p:sldMasterIdLst>
  <p:notesMasterIdLst>
    <p:notesMasterId xmlns:r="http://schemas.openxmlformats.org/officeDocument/2006/relationships" r:id="Rc58bb9792b434033"/>
  </p:notesMasterIdLst>
  <p:sldIdLst>
    <p:sldId xmlns:r="http://schemas.openxmlformats.org/officeDocument/2006/relationships" id="256" r:id="R96b9c25cb47b4a2e"/>
    <p:sldId xmlns:r="http://schemas.openxmlformats.org/officeDocument/2006/relationships" id="257" r:id="Rda979af0faa744d1"/>
    <p:sldId xmlns:r="http://schemas.openxmlformats.org/officeDocument/2006/relationships" id="258" r:id="R570e35c3255f456e"/>
    <p:sldId xmlns:r="http://schemas.openxmlformats.org/officeDocument/2006/relationships" id="259" r:id="R454a3f582c1442aa"/>
    <p:sldId xmlns:r="http://schemas.openxmlformats.org/officeDocument/2006/relationships" id="260" r:id="Rc0f88203f4c54930"/>
    <p:sldId xmlns:r="http://schemas.openxmlformats.org/officeDocument/2006/relationships" id="261" r:id="R2414424d6fc442b7"/>
    <p:sldId xmlns:r="http://schemas.openxmlformats.org/officeDocument/2006/relationships" id="262" r:id="R474b7b3ca0c64724"/>
    <p:sldId xmlns:r="http://schemas.openxmlformats.org/officeDocument/2006/relationships" id="263" r:id="R12406ea656d0479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a1923bf778e4d85" /><Relationship Type="http://schemas.openxmlformats.org/officeDocument/2006/relationships/slideMaster" Target="/ppt/slideMasters/slideMaster1.xml" Id="R8655d64ec5f94a9b" /><Relationship Type="http://schemas.openxmlformats.org/officeDocument/2006/relationships/notesMaster" Target="/ppt/notesMasters/notesMaster1.xml" Id="Rc58bb9792b434033" /><Relationship Type="http://schemas.openxmlformats.org/officeDocument/2006/relationships/presProps" Target="/ppt/presProps.xml" Id="R261ff2afa3c44f73" /><Relationship Type="http://schemas.openxmlformats.org/officeDocument/2006/relationships/tableStyles" Target="/ppt/tableStyles.xml" Id="R7cd1d13c531c4947" /><Relationship Type="http://schemas.openxmlformats.org/officeDocument/2006/relationships/slide" Target="/ppt/slides/slide1.xml" Id="R96b9c25cb47b4a2e" /><Relationship Type="http://schemas.openxmlformats.org/officeDocument/2006/relationships/slide" Target="/ppt/slides/slide2.xml" Id="Rda979af0faa744d1" /><Relationship Type="http://schemas.openxmlformats.org/officeDocument/2006/relationships/slide" Target="/ppt/slides/slide3.xml" Id="R570e35c3255f456e" /><Relationship Type="http://schemas.openxmlformats.org/officeDocument/2006/relationships/slide" Target="/ppt/slides/slide4.xml" Id="R454a3f582c1442aa" /><Relationship Type="http://schemas.openxmlformats.org/officeDocument/2006/relationships/slide" Target="/ppt/slides/slide5.xml" Id="Rc0f88203f4c54930" /><Relationship Type="http://schemas.openxmlformats.org/officeDocument/2006/relationships/slide" Target="/ppt/slides/slide6.xml" Id="R2414424d6fc442b7" /><Relationship Type="http://schemas.openxmlformats.org/officeDocument/2006/relationships/slide" Target="/ppt/slides/slide7.xml" Id="R474b7b3ca0c64724" /><Relationship Type="http://schemas.openxmlformats.org/officeDocument/2006/relationships/slide" Target="/ppt/slides/slide8.xml" Id="R12406ea656d0479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1b9a7346a4147e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361db04f77e47a5" /><Relationship Type="http://schemas.openxmlformats.org/officeDocument/2006/relationships/notesMaster" Target="/ppt/notesMasters/notesMaster1.xml" Id="R22d106c6f4424d1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0f6e1b74d174227" /><Relationship Type="http://schemas.openxmlformats.org/officeDocument/2006/relationships/notesMaster" Target="/ppt/notesMasters/notesMaster1.xml" Id="Rc44159929a10482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949d5ab44864efa" /><Relationship Type="http://schemas.openxmlformats.org/officeDocument/2006/relationships/notesMaster" Target="/ppt/notesMasters/notesMaster1.xml" Id="Raf3e596a6bd346e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981c19f6d8d4203" /><Relationship Type="http://schemas.openxmlformats.org/officeDocument/2006/relationships/notesMaster" Target="/ppt/notesMasters/notesMaster1.xml" Id="Rcdf732bc75794f7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74aca7f21fd4ee2" /><Relationship Type="http://schemas.openxmlformats.org/officeDocument/2006/relationships/notesMaster" Target="/ppt/notesMasters/notesMaster1.xml" Id="R3b96222dbeeb453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675a835726546d3" /><Relationship Type="http://schemas.openxmlformats.org/officeDocument/2006/relationships/notesMaster" Target="/ppt/notesMasters/notesMaster1.xml" Id="R178bdfdaf8a34e4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e0fe28e06eb4d3f" /><Relationship Type="http://schemas.openxmlformats.org/officeDocument/2006/relationships/notesMaster" Target="/ppt/notesMasters/notesMaster1.xml" Id="R264bb61b29a64ca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97aea040a0d41da" /><Relationship Type="http://schemas.openxmlformats.org/officeDocument/2006/relationships/notesMaster" Target="/ppt/notesMasters/notesMaster1.xml" Id="R6d1e7c0ad49a430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Apresentador 1. Tempo sugerido: 25 segundos.</a:t>
            </a:r>
          </a:p>
          <a:p xmlns:a="http://schemas.openxmlformats.org/drawingml/2006/main">
            <a:r>
              <a:t>A Ampara organiza uma rede local de resposta. O projeto conecta quem encontra um animal, quem pode acolher e quem deseja adotar.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Apresentador 1. Tempo sugerido: 40 segundos.</a:t>
            </a:r>
          </a:p>
          <a:p xmlns:a="http://schemas.openxmlformats.org/drawingml/2006/main">
            <a:r>
              <a:t>O foco não é apenas cadastrar animais. O problema está na coordenação: relatos dispersos, protetores sobrecarregados e falta de rastreabilidade do atendimento.</a:t>
            </a:r>
          </a:p>
          <a:p xmlns:a="http://schemas.openxmlformats.org/drawingml/2006/main">
            <a:r>
              <a:t>Fontes: https://www.cfmv.gov.br/combater-os-maus-tratos-aos-animais-e-um-dever-de-todos/comunicacao/noticias/2023/05/04/</a:t>
            </a:r>
          </a:p>
          <a:p xmlns:a="http://schemas.openxmlformats.org/drawingml/2006/main">
            <a:r>
              <a:t>https://www.cfmv.gov.br/dezembro-e-dedicado-a-combater-o-abandono-de-animais/comunicacao/noticias/2020/12/03/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Apresentador 2. Tempo sugerido: 35 segundos.</a:t>
            </a:r>
          </a:p>
          <a:p xmlns:a="http://schemas.openxmlformats.org/drawingml/2006/main">
            <a:r>
              <a:t>Explique que cada público participa do mesmo caso, mas vê ações adequadas ao seu papel. O histórico reduz duplicações e ajuda a medir resultados.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Apresentador 2. Tempo sugerido: 40 segundos.</a:t>
            </a:r>
          </a:p>
          <a:p xmlns:a="http://schemas.openxmlformats.org/drawingml/2006/main">
            <a:r>
              <a:t>Use um exemplo: alguém fotografa um cão perdido, a plataforma avisa usuários próximos, uma ONG aceita a triagem e o caso termina com reencontro ou adoção.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Apresentador 3. Tempo sugerido: 55 segundos.</a:t>
            </a:r>
          </a:p>
          <a:p xmlns:a="http://schemas.openxmlformats.org/drawingml/2006/main">
            <a:r>
              <a:t>Os dois clientes são aplicações independentes. O gateway concentra autenticação e roteamento. Cada microsserviço possui responsabilidade e banco próprios. REST atende consultas imediatas, enquanto eventos no RabbitMQ propagam mudanças sem acoplamento direto.</a:t>
            </a:r>
          </a:p>
          <a:p xmlns:a="http://schemas.openxmlformats.org/drawingml/2006/main">
            <a:r>
              <a:t>As quatro caixas nomeadas são os microsserviços de domínio exigidos. Notificações, mapas e fotos funcionam como infraestrutura de apoio.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Apresentador 3. Tempo sugerido: 50 segundos.</a:t>
            </a:r>
          </a:p>
          <a:p xmlns:a="http://schemas.openxmlformats.org/drawingml/2006/main">
            <a:r>
              <a:t>A SAGA demonstra uma transação real atravessando quatro serviços. Não existe transação única entre os bancos. Cada serviço confirma sua etapa e publica um evento. Em caso de falha, operações compensatórias restauram um estado consistente.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Apresentador 4. Tempo sugerido: 45 segundos.</a:t>
            </a:r>
          </a:p>
          <a:p xmlns:a="http://schemas.openxmlformats.org/drawingml/2006/main">
            <a:r>
              <a:t>A stack proposta reduz a quantidade de linguagens e mantém o foco nos conceitos distribuídos. O aplicativo e o painel são clientes separados. Cada serviço usa sua própria instância de PostgreSQL.</a:t>
            </a:r>
          </a:p>
          <a:p xmlns:a="http://schemas.openxmlformats.org/drawingml/2006/main">
            <a:r>
              <a:t>O repositório deverá conter README, pasta docs, branches por funcionalidade e pull requests revisados por outro integrante.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Apresentador 4. Tempo sugerido: 40 segundos.</a:t>
            </a:r>
          </a:p>
          <a:p xmlns:a="http://schemas.openxmlformats.org/drawingml/2006/main">
            <a:r>
              <a:t>Feche retomando a mensuração. A proposta combina impacto social com uma transação distribuída justificável.</a:t>
            </a:r>
          </a:p>
          <a:p xmlns:a="http://schemas.openxmlformats.org/drawingml/2006/main">
            <a:r>
              <a:t>Referências completas:</a:t>
            </a:r>
          </a:p>
          <a:p xmlns:a="http://schemas.openxmlformats.org/drawingml/2006/main">
            <a:r>
              <a:t>https://www.cfmv.gov.br/combater-os-maus-tratos-aos-animais-e-um-dever-de-todos/comunicacao/noticias/2023/05/04/</a:t>
            </a:r>
          </a:p>
          <a:p xmlns:a="http://schemas.openxmlformats.org/drawingml/2006/main">
            <a:r>
              <a:t>https://www.cfmv.gov.br/cfmv-discute-politicas-de-enfrentamento-ao-abandono-de-animais-no-ministerio-do-meio-ambiente/destaque/2024/03/15/</a:t>
            </a:r>
          </a:p>
          <a:p xmlns:a="http://schemas.openxmlformats.org/drawingml/2006/main">
            <a:r>
              <a:t>https://www.gov.br/saude/pt-br/assuntos/saude-de-a-a-z/r/raiva/raiva-animal</a:t>
            </a:r>
          </a:p>
          <a:p xmlns:a="http://schemas.openxmlformats.org/drawingml/2006/main">
            <a:r>
              <a:t>https://www.scielo.br/j/cr/a/3DqtCTw7BYsnqtFqyqFWndn/?format=html</a:t>
            </a:r>
          </a:p>
          <a:p xmlns:a="http://schemas.openxmlformats.org/drawingml/2006/main">
            <a:r>
              <a:t>https://pubmed.ncbi.nlm.nih.gov/29091961/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7a706caec141c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563619d2d834d44" /><Relationship Type="http://schemas.openxmlformats.org/officeDocument/2006/relationships/slideLayout" Target="/ppt/slideLayouts/slideLayout1.xml" Id="R27c7edd5a2c34ef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7c7edd5a2c34ef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38b14c047a4737" /><Relationship Type="http://schemas.openxmlformats.org/officeDocument/2006/relationships/notesSlide" Target="/ppt/notesSlides/notesSlide1.xml" Id="R4e1023cc6f0e4d7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a71129deb6433c" /><Relationship Type="http://schemas.openxmlformats.org/officeDocument/2006/relationships/notesSlide" Target="/ppt/notesSlides/notesSlide2.xml" Id="R20fced01192c493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95e4f8482a43ae" /><Relationship Type="http://schemas.openxmlformats.org/officeDocument/2006/relationships/notesSlide" Target="/ppt/notesSlides/notesSlide3.xml" Id="R8fcb254579284a7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b61c05a6b24116" /><Relationship Type="http://schemas.openxmlformats.org/officeDocument/2006/relationships/notesSlide" Target="/ppt/notesSlides/notesSlide4.xml" Id="R5f41ca4b329244c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02e67f275146b9" /><Relationship Type="http://schemas.openxmlformats.org/officeDocument/2006/relationships/notesSlide" Target="/ppt/notesSlides/notesSlide5.xml" Id="Reeb540ce9f1c4ad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656ab4e88d4ba3" /><Relationship Type="http://schemas.openxmlformats.org/officeDocument/2006/relationships/notesSlide" Target="/ppt/notesSlides/notesSlide6.xml" Id="Rd445da21e96e414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1aff2574ce42a5" /><Relationship Type="http://schemas.openxmlformats.org/officeDocument/2006/relationships/notesSlide" Target="/ppt/notesSlides/notesSlide7.xml" Id="Rf56f3c1d59d0479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269db176084ebe" /><Relationship Type="http://schemas.openxmlformats.org/officeDocument/2006/relationships/notesSlide" Target="/ppt/notesSlides/notesSlide8.xml" Id="Rd6c2bfb50d58490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831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CC7F3E-1F08-4774-AEC4-3854D7384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762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A9D8C0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A9D8C0"/>
                </a:solidFill>
                <a:latin typeface="Inter"/>
                <a:ea typeface="Inter"/>
                <a:cs typeface="Inter"/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2CE414-63A2-4854-B0DB-71E9EF68B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7524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54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54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Ampara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93C596-E154-4590-962C-445F8BD5E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19350"/>
            <a:ext cx="723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F7F2E8"/>
                </a:solidFill>
                <a:latin typeface="Inter"/>
                <a:ea typeface="Inter"/>
                <a:cs typeface="Inter"/>
              </a:defRPr>
            </a:pPr>
            <a:r>
              <a:rPr sz="2250" b="0">
                <a:solidFill>
                  <a:srgbClr val="F7F2E8"/>
                </a:solidFill>
                <a:latin typeface="Inter"/>
                <a:ea typeface="Inter"/>
                <a:cs typeface="Inter"/>
              </a:rPr>
              <a:t>Rede local para localizar, acolher e adotar animais com segurança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49C7A1-4039-403F-81DB-4F3C245EB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14850"/>
            <a:ext cx="695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A9D8C0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A9D8C0"/>
                </a:solidFill>
                <a:latin typeface="Inter"/>
                <a:ea typeface="Inter"/>
                <a:cs typeface="Inter"/>
              </a:rPr>
              <a:t>Pessoas encontram. Protetores acolhem. Famílias adotam.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2CEA31-BEA4-421C-8723-6A42DD030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666875"/>
            <a:ext cx="1571625" cy="1571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6F5B"/>
          </a:solidFill>
          <a:ln xmlns:a="http://schemas.openxmlformats.org/drawingml/2006/main" w="14288">
            <a:solidFill>
              <a:srgbClr val="F36F5B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7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375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AM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F48D86-ECBD-45C7-990B-954C4228C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857625"/>
            <a:ext cx="238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F7F2E8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F7F2E8"/>
                </a:solidFill>
                <a:latin typeface="Inter"/>
                <a:ea typeface="Inter"/>
                <a:cs typeface="Inter"/>
              </a:rPr>
              <a:t>Pitch de concepção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F7F2E8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F7F2E8"/>
                </a:solidFill>
                <a:latin typeface="Inter"/>
                <a:ea typeface="Inter"/>
                <a:cs typeface="Inter"/>
              </a:rPr>
              <a:t>17 de setembro de 2026</a:t>
            </a:r>
          </a:p>
        </p:txBody>
      </p:sp>
    </p:spTree>
    <p:extLst>
      <p:ext uri="{BB962C8B-B14F-4D97-AF65-F5344CB8AC3E}">
        <p14:creationId xmlns:p14="http://schemas.microsoft.com/office/powerpoint/2010/main" val="12526029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9D82A5-11A0-4BE9-B62D-573569A65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81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8312B"/>
                </a:solidFill>
                <a:latin typeface="Inter"/>
                <a:ea typeface="Inter"/>
                <a:cs typeface="Inter"/>
              </a:defRPr>
            </a:pPr>
            <a:r>
              <a:rPr sz="2550" b="1">
                <a:solidFill>
                  <a:srgbClr val="18312B"/>
                </a:solidFill>
                <a:latin typeface="Inter"/>
                <a:ea typeface="Inter"/>
                <a:cs typeface="Inter"/>
              </a:rPr>
              <a:t>O problema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93588D-B4F5-4522-AF82-9BB16282E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762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235347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235347"/>
                </a:solidFill>
                <a:latin typeface="Inter"/>
                <a:ea typeface="Inter"/>
                <a:cs typeface="Inter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A9825F-173F-4280-85BF-CEE709735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F746D"/>
                </a:solidFill>
                <a:latin typeface="Inter"/>
                <a:ea typeface="Inter"/>
                <a:cs typeface="Inter"/>
              </a:defRPr>
            </a:pPr>
            <a:r>
              <a:rPr sz="825" b="0">
                <a:solidFill>
                  <a:srgbClr val="5F746D"/>
                </a:solidFill>
                <a:latin typeface="Inter"/>
                <a:ea typeface="Inter"/>
                <a:cs typeface="Inter"/>
              </a:rPr>
              <a:t>Ampara / Sistemas Distribuídos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4ADDA6-E809-4EC7-997F-63DC61398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862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75" b="1">
                <a:solidFill>
                  <a:srgbClr val="235347"/>
                </a:solidFill>
                <a:latin typeface="Inter"/>
                <a:ea typeface="Inter"/>
                <a:cs typeface="Inter"/>
              </a:defRPr>
            </a:pPr>
            <a:r>
              <a:rPr sz="2175" b="1">
                <a:solidFill>
                  <a:srgbClr val="235347"/>
                </a:solidFill>
                <a:latin typeface="Inter"/>
                <a:ea typeface="Inter"/>
                <a:cs typeface="Inter"/>
              </a:rPr>
              <a:t>A informação existe, mas chega fragmentada e tarde demais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8B8F96-1344-4659-84E6-590FD5495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71700"/>
            <a:ext cx="2238375" cy="1000125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BE6E1"/>
          </a:solidFill>
          <a:ln xmlns:a="http://schemas.openxmlformats.org/drawingml/2006/main" w="14288">
            <a:solidFill>
              <a:srgbClr val="F36F5B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18312B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18312B"/>
                </a:solidFill>
                <a:latin typeface="Inter"/>
                <a:ea typeface="Inter"/>
                <a:cs typeface="Inter"/>
              </a:rPr>
              <a:t>Animal perdido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18312B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18312B"/>
                </a:solidFill>
                <a:latin typeface="Inter"/>
                <a:ea typeface="Inter"/>
                <a:cs typeface="Inter"/>
              </a:rPr>
              <a:t>ou abandonado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236802-4A96-4539-B983-20A442301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171700"/>
            <a:ext cx="2238375" cy="1000125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AD8D1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9401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18312B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18312B"/>
                </a:solidFill>
                <a:latin typeface="Inter"/>
                <a:ea typeface="Inter"/>
                <a:cs typeface="Inter"/>
              </a:rPr>
              <a:t>Publicações espalhadas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18312B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18312B"/>
                </a:solidFill>
                <a:latin typeface="Inter"/>
                <a:ea typeface="Inter"/>
                <a:cs typeface="Inter"/>
              </a:rPr>
              <a:t>em redes sociais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6DB66E-F34D-48E2-8F4B-EAC3280A9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71700"/>
            <a:ext cx="2286000" cy="1000125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AD8D1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9401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18312B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18312B"/>
                </a:solidFill>
                <a:latin typeface="Inter"/>
                <a:ea typeface="Inter"/>
                <a:cs typeface="Inter"/>
              </a:rPr>
              <a:t>ONGs com capacidade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18312B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18312B"/>
                </a:solidFill>
                <a:latin typeface="Inter"/>
                <a:ea typeface="Inter"/>
                <a:cs typeface="Inter"/>
              </a:rPr>
              <a:t>e recursos limitados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34D6E9-DF3B-49B3-970E-FB77AA085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171700"/>
            <a:ext cx="2095500" cy="1000125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BE6E1"/>
          </a:solidFill>
          <a:ln xmlns:a="http://schemas.openxmlformats.org/drawingml/2006/main" w="14288">
            <a:solidFill>
              <a:srgbClr val="F36F5B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8312B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18312B"/>
                </a:solidFill>
                <a:latin typeface="Inter"/>
                <a:ea typeface="Inter"/>
                <a:cs typeface="Inter"/>
              </a:rPr>
              <a:t>Resposta lenta e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8312B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18312B"/>
                </a:solidFill>
                <a:latin typeface="Inter"/>
                <a:ea typeface="Inter"/>
                <a:cs typeface="Inter"/>
              </a:rPr>
              <a:t>sem acompanhamento</a:t>
            </a:r>
          </a:p>
        </p:txBody>
      </p:sp>
      <p:cxnSp>
        <p:nvCxnSpPr>
          <p:cNvPr id="24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981325" y="2671763"/>
            <a:ext cx="8286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746D"/>
            </a:solidFill>
            <a:prstDash val="solid"/>
            <a:tailEnd type="triangle" w="sm" len="sm"/>
          </a:ln>
        </p:spPr>
      </p:cxnSp>
      <p:cxnSp>
        <p:nvCxnSpPr>
          <p:cNvPr id="25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6048375" y="2671763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746D"/>
            </a:solidFill>
            <a:prstDash val="solid"/>
            <a:tailEnd type="triangle" w="sm" len="sm"/>
          </a:ln>
        </p:spPr>
      </p:cxnSp>
      <p:cxnSp>
        <p:nvCxnSpPr>
          <p:cNvPr id="26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8953500" y="2671763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746D"/>
            </a:solidFill>
            <a:prstDash val="solid"/>
            <a:tailEnd type="triangle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764417-99BF-4FEF-A626-9F4C83A54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48125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225" b="1">
                <a:solidFill>
                  <a:srgbClr val="F36F5B"/>
                </a:solidFill>
                <a:latin typeface="Inter"/>
                <a:ea typeface="Inter"/>
                <a:cs typeface="Inter"/>
              </a:defRPr>
            </a:pPr>
            <a:r>
              <a:rPr sz="3225" b="1">
                <a:solidFill>
                  <a:srgbClr val="F36F5B"/>
                </a:solidFill>
                <a:latin typeface="Inter"/>
                <a:ea typeface="Inter"/>
                <a:cs typeface="Inter"/>
              </a:rPr>
              <a:t>185 mil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5E482B-15DA-4A28-948D-1B7687E32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67250"/>
            <a:ext cx="4381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18312B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18312B"/>
                </a:solidFill>
                <a:latin typeface="Inter"/>
                <a:ea typeface="Inter"/>
                <a:cs typeface="Inter"/>
              </a:rPr>
              <a:t>animais estavam sob tutela de ONGs ou grupos de protetores no levantamento citado pelo CFMV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EBA425-FEA9-4947-A57E-1FD7B3A37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171950"/>
            <a:ext cx="4762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725" b="1">
                <a:solidFill>
                  <a:srgbClr val="235347"/>
                </a:solidFill>
                <a:latin typeface="Inter"/>
                <a:ea typeface="Inter"/>
                <a:cs typeface="Inter"/>
              </a:defRPr>
            </a:pPr>
            <a:r>
              <a:rPr sz="1725" b="1">
                <a:solidFill>
                  <a:srgbClr val="235347"/>
                </a:solidFill>
                <a:latin typeface="Inter"/>
                <a:ea typeface="Inter"/>
                <a:cs typeface="Inter"/>
              </a:rPr>
              <a:t>O abandono afeta o bem-estar animal e também traz riscos relacionados a zoonoses, acidentes e agressões.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79E774-5609-43D1-8F39-DD654CA3C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245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5F746D"/>
                </a:solidFill>
                <a:latin typeface="Inter"/>
                <a:ea typeface="Inter"/>
                <a:cs typeface="Inter"/>
              </a:defRPr>
            </a:pPr>
            <a:r>
              <a:rPr sz="900" b="0">
                <a:solidFill>
                  <a:srgbClr val="5F746D"/>
                </a:solidFill>
                <a:latin typeface="Inter"/>
                <a:ea typeface="Inter"/>
                <a:cs typeface="Inter"/>
              </a:rPr>
              <a:t>Fonte: CFMV, 2020 e 2023</a:t>
            </a:r>
          </a:p>
        </p:txBody>
      </p:sp>
    </p:spTree>
    <p:extLst>
      <p:ext uri="{BB962C8B-B14F-4D97-AF65-F5344CB8AC3E}">
        <p14:creationId xmlns:p14="http://schemas.microsoft.com/office/powerpoint/2010/main" val="24262171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D2A120-8E0C-46D2-B67A-9AF589E60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81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8312B"/>
                </a:solidFill>
                <a:latin typeface="Inter"/>
                <a:ea typeface="Inter"/>
                <a:cs typeface="Inter"/>
              </a:defRPr>
            </a:pPr>
            <a:r>
              <a:rPr sz="2550" b="1">
                <a:solidFill>
                  <a:srgbClr val="18312B"/>
                </a:solidFill>
                <a:latin typeface="Inter"/>
                <a:ea typeface="Inter"/>
                <a:cs typeface="Inter"/>
              </a:rPr>
              <a:t>Públicos e proposta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9CCBC6-C0A8-4E42-B4B3-6EC09EC2F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762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235347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235347"/>
                </a:solidFill>
                <a:latin typeface="Inter"/>
                <a:ea typeface="Inter"/>
                <a:cs typeface="Inter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74A3D9-E06A-4990-A68E-AD6679980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F746D"/>
                </a:solidFill>
                <a:latin typeface="Inter"/>
                <a:ea typeface="Inter"/>
                <a:cs typeface="Inter"/>
              </a:defRPr>
            </a:pPr>
            <a:r>
              <a:rPr sz="825" b="0">
                <a:solidFill>
                  <a:srgbClr val="5F746D"/>
                </a:solidFill>
                <a:latin typeface="Inter"/>
                <a:ea typeface="Inter"/>
                <a:cs typeface="Inter"/>
              </a:rPr>
              <a:t>Ampara / Sistemas Distribuídos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CAB7D8-3CFB-46FE-A037-E32F325DE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590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75" b="1">
                <a:solidFill>
                  <a:srgbClr val="235347"/>
                </a:solidFill>
                <a:latin typeface="Inter"/>
                <a:ea typeface="Inter"/>
                <a:cs typeface="Inter"/>
              </a:defRPr>
            </a:pPr>
            <a:r>
              <a:rPr sz="2175" b="1">
                <a:solidFill>
                  <a:srgbClr val="235347"/>
                </a:solidFill>
                <a:latin typeface="Inter"/>
                <a:ea typeface="Inter"/>
                <a:cs typeface="Inter"/>
              </a:rPr>
              <a:t>Uma rede com papéis claros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5028EE-7D15-4CDA-B90C-D733ECB91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76450"/>
            <a:ext cx="2476500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9D8C0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8312B"/>
                </a:solidFill>
                <a:latin typeface="Inter"/>
                <a:ea typeface="Inter"/>
                <a:cs typeface="Inter"/>
              </a:defRPr>
            </a:pPr>
            <a:r>
              <a:rPr sz="1725" b="1">
                <a:solidFill>
                  <a:srgbClr val="18312B"/>
                </a:solidFill>
                <a:latin typeface="Inter"/>
                <a:ea typeface="Inter"/>
                <a:cs typeface="Inter"/>
              </a:rPr>
              <a:t>Cidadão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8312B"/>
                </a:solidFill>
                <a:latin typeface="Inter"/>
                <a:ea typeface="Inter"/>
                <a:cs typeface="Inter"/>
              </a:defRPr>
            </a:pPr>
            <a:r>
              <a:rPr sz="1725" b="1">
                <a:solidFill>
                  <a:srgbClr val="18312B"/>
                </a:solidFill>
                <a:latin typeface="Inter"/>
                <a:ea typeface="Inter"/>
                <a:cs typeface="Inter"/>
              </a:rPr>
              <a:t>registra e acompanha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D5B7F8-C0F1-436C-BD93-F8D0E976F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076450"/>
            <a:ext cx="2476500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9D8C0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8312B"/>
                </a:solidFill>
                <a:latin typeface="Inter"/>
                <a:ea typeface="Inter"/>
                <a:cs typeface="Inter"/>
              </a:defRPr>
            </a:pPr>
            <a:r>
              <a:rPr sz="1725" b="1">
                <a:solidFill>
                  <a:srgbClr val="18312B"/>
                </a:solidFill>
                <a:latin typeface="Inter"/>
                <a:ea typeface="Inter"/>
                <a:cs typeface="Inter"/>
              </a:rPr>
              <a:t>Tutor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8312B"/>
                </a:solidFill>
                <a:latin typeface="Inter"/>
                <a:ea typeface="Inter"/>
                <a:cs typeface="Inter"/>
              </a:defRPr>
            </a:pPr>
            <a:r>
              <a:rPr sz="1725" b="1">
                <a:solidFill>
                  <a:srgbClr val="18312B"/>
                </a:solidFill>
                <a:latin typeface="Inter"/>
                <a:ea typeface="Inter"/>
                <a:cs typeface="Inter"/>
              </a:rPr>
              <a:t>recebe alertas locais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F909AA-AF99-4A76-B79A-12D79A2D5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76450"/>
            <a:ext cx="2476500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9D8C0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8312B"/>
                </a:solidFill>
                <a:latin typeface="Inter"/>
                <a:ea typeface="Inter"/>
                <a:cs typeface="Inter"/>
              </a:defRPr>
            </a:pPr>
            <a:r>
              <a:rPr sz="1725" b="1">
                <a:solidFill>
                  <a:srgbClr val="18312B"/>
                </a:solidFill>
                <a:latin typeface="Inter"/>
                <a:ea typeface="Inter"/>
                <a:cs typeface="Inter"/>
              </a:rPr>
              <a:t>Protetor ou ONG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8312B"/>
                </a:solidFill>
                <a:latin typeface="Inter"/>
                <a:ea typeface="Inter"/>
                <a:cs typeface="Inter"/>
              </a:defRPr>
            </a:pPr>
            <a:r>
              <a:rPr sz="1725" b="1">
                <a:solidFill>
                  <a:srgbClr val="18312B"/>
                </a:solidFill>
                <a:latin typeface="Inter"/>
                <a:ea typeface="Inter"/>
                <a:cs typeface="Inter"/>
              </a:rPr>
              <a:t>triam e acolhem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872B06-2C9B-49AF-A3AE-A03141B8C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076450"/>
            <a:ext cx="2381250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9D8C0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8312B"/>
                </a:solidFill>
                <a:latin typeface="Inter"/>
                <a:ea typeface="Inter"/>
                <a:cs typeface="Inter"/>
              </a:defRPr>
            </a:pPr>
            <a:r>
              <a:rPr sz="1725" b="1">
                <a:solidFill>
                  <a:srgbClr val="18312B"/>
                </a:solidFill>
                <a:latin typeface="Inter"/>
                <a:ea typeface="Inter"/>
                <a:cs typeface="Inter"/>
              </a:rPr>
              <a:t>Adotante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8312B"/>
                </a:solidFill>
                <a:latin typeface="Inter"/>
                <a:ea typeface="Inter"/>
                <a:cs typeface="Inter"/>
              </a:defRPr>
            </a:pPr>
            <a:r>
              <a:rPr sz="1725" b="1">
                <a:solidFill>
                  <a:srgbClr val="18312B"/>
                </a:solidFill>
                <a:latin typeface="Inter"/>
                <a:ea typeface="Inter"/>
                <a:cs typeface="Inter"/>
              </a:rPr>
              <a:t>passa por avaliação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61468B-A226-4C08-A4B4-0CB401062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24325"/>
            <a:ext cx="101727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2025" b="1">
                <a:solidFill>
                  <a:srgbClr val="18312B"/>
                </a:solidFill>
                <a:latin typeface="Inter"/>
                <a:ea typeface="Inter"/>
                <a:cs typeface="Inter"/>
              </a:defRPr>
            </a:pPr>
            <a:r>
              <a:rPr sz="2025" b="1">
                <a:solidFill>
                  <a:srgbClr val="18312B"/>
                </a:solidFill>
                <a:latin typeface="Inter"/>
                <a:ea typeface="Inter"/>
                <a:cs typeface="Inter"/>
              </a:rPr>
              <a:t>A Ampara concentra ocorrências geolocalizadas, disponibilidade de acolhimento e processos de adoção em um histórico único para cada caso.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48A818-8775-420E-A220-8F0737241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524500"/>
            <a:ext cx="8610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F36F5B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F36F5B"/>
                </a:solidFill>
                <a:latin typeface="Inter"/>
                <a:ea typeface="Inter"/>
                <a:cs typeface="Inter"/>
              </a:rPr>
              <a:t>Valor principal: reduzir o tempo entre o registro e uma solução segura para o animal.</a:t>
            </a:r>
          </a:p>
        </p:txBody>
      </p:sp>
    </p:spTree>
    <p:extLst>
      <p:ext uri="{BB962C8B-B14F-4D97-AF65-F5344CB8AC3E}">
        <p14:creationId xmlns:p14="http://schemas.microsoft.com/office/powerpoint/2010/main" val="67806547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B919B6-EDC9-4410-A631-0EF744B29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81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8312B"/>
                </a:solidFill>
                <a:latin typeface="Inter"/>
                <a:ea typeface="Inter"/>
                <a:cs typeface="Inter"/>
              </a:defRPr>
            </a:pPr>
            <a:r>
              <a:rPr sz="2550" b="1">
                <a:solidFill>
                  <a:srgbClr val="18312B"/>
                </a:solidFill>
                <a:latin typeface="Inter"/>
                <a:ea typeface="Inter"/>
                <a:cs typeface="Inter"/>
              </a:rPr>
              <a:t>Como funciona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3BB3B7-9437-491C-BC57-69171990F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762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235347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235347"/>
                </a:solidFill>
                <a:latin typeface="Inter"/>
                <a:ea typeface="Inter"/>
                <a:cs typeface="Inter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9BB916-F937-42F0-A9BF-FB92A7428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F746D"/>
                </a:solidFill>
                <a:latin typeface="Inter"/>
                <a:ea typeface="Inter"/>
                <a:cs typeface="Inter"/>
              </a:defRPr>
            </a:pPr>
            <a:r>
              <a:rPr sz="825" b="0">
                <a:solidFill>
                  <a:srgbClr val="5F746D"/>
                </a:solidFill>
                <a:latin typeface="Inter"/>
                <a:ea typeface="Inter"/>
                <a:cs typeface="Inter"/>
              </a:rPr>
              <a:t>Ampara / Sistemas Distribuídos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929644-8F5D-4F79-B0CA-036062FDD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4287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5347"/>
          </a:solidFill>
          <a:ln xmlns:a="http://schemas.openxmlformats.org/drawingml/2006/main" w="14288">
            <a:solidFill>
              <a:srgbClr val="235347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8278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5C77B8-D6FD-4EEA-BD48-088CE5F9B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33625"/>
            <a:ext cx="1952625" cy="1333500"/>
          </a:xfrm>
          <a:prstGeom xmlns:a="http://schemas.openxmlformats.org/drawingml/2006/main" prst="roundRect">
            <a:avLst>
              <a:gd name="adj" fmla="val 1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9D8C0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18312B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18312B"/>
                </a:solidFill>
                <a:latin typeface="Inter"/>
                <a:ea typeface="Inter"/>
                <a:cs typeface="Inter"/>
              </a:rPr>
              <a:t>Registro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18312B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18312B"/>
                </a:solidFill>
                <a:latin typeface="Inter"/>
                <a:ea typeface="Inter"/>
                <a:cs typeface="Inter"/>
              </a:rPr>
              <a:t>foto, local e situação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7828EC-BF68-4992-A578-3560EE599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4287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5347"/>
          </a:solidFill>
          <a:ln xmlns:a="http://schemas.openxmlformats.org/drawingml/2006/main" w="14288">
            <a:solidFill>
              <a:srgbClr val="235347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8278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A256B5-B5DB-4CC4-862B-BAFE932F8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333625"/>
            <a:ext cx="1952625" cy="1333500"/>
          </a:xfrm>
          <a:prstGeom xmlns:a="http://schemas.openxmlformats.org/drawingml/2006/main" prst="roundRect">
            <a:avLst>
              <a:gd name="adj" fmla="val 1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9D8C0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18312B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18312B"/>
                </a:solidFill>
                <a:latin typeface="Inter"/>
                <a:ea typeface="Inter"/>
                <a:cs typeface="Inter"/>
              </a:rPr>
              <a:t>Alerta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18312B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18312B"/>
                </a:solidFill>
                <a:latin typeface="Inter"/>
                <a:ea typeface="Inter"/>
                <a:cs typeface="Inter"/>
              </a:rPr>
              <a:t>pessoas e protetores próximos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68A003-EA01-4A17-844D-278E8ED2D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4287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5347"/>
          </a:solidFill>
          <a:ln xmlns:a="http://schemas.openxmlformats.org/drawingml/2006/main" w="14288">
            <a:solidFill>
              <a:srgbClr val="235347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8278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89B68F-FF01-4124-B631-1D941231C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333625"/>
            <a:ext cx="1952625" cy="1333500"/>
          </a:xfrm>
          <a:prstGeom xmlns:a="http://schemas.openxmlformats.org/drawingml/2006/main" prst="roundRect">
            <a:avLst>
              <a:gd name="adj" fmla="val 1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9D8C0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18312B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18312B"/>
                </a:solidFill>
                <a:latin typeface="Inter"/>
                <a:ea typeface="Inter"/>
                <a:cs typeface="Inter"/>
              </a:rPr>
              <a:t>Triagem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18312B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18312B"/>
                </a:solidFill>
                <a:latin typeface="Inter"/>
                <a:ea typeface="Inter"/>
                <a:cs typeface="Inter"/>
              </a:rPr>
              <a:t>urgência e capacidade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6B62D6-E3FA-476F-81B1-A93C6BAB6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4287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5347"/>
          </a:solidFill>
          <a:ln xmlns:a="http://schemas.openxmlformats.org/drawingml/2006/main" w="14288">
            <a:solidFill>
              <a:srgbClr val="235347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8278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886EFD-A903-4A5F-A7F7-160C39D33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333625"/>
            <a:ext cx="1952625" cy="1333500"/>
          </a:xfrm>
          <a:prstGeom xmlns:a="http://schemas.openxmlformats.org/drawingml/2006/main" prst="roundRect">
            <a:avLst>
              <a:gd name="adj" fmla="val 1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9D8C0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18312B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18312B"/>
                </a:solidFill>
                <a:latin typeface="Inter"/>
                <a:ea typeface="Inter"/>
                <a:cs typeface="Inter"/>
              </a:rPr>
              <a:t>Acolhimento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18312B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18312B"/>
                </a:solidFill>
                <a:latin typeface="Inter"/>
                <a:ea typeface="Inter"/>
                <a:cs typeface="Inter"/>
              </a:rPr>
              <a:t>responsável e histórico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B9FB41-EB68-43DD-9E89-17A792455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4287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6F5B"/>
          </a:solidFill>
          <a:ln xmlns:a="http://schemas.openxmlformats.org/drawingml/2006/main" w="14288">
            <a:solidFill>
              <a:srgbClr val="F36F5B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8278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977F7E-4444-4455-B589-1C28DE86C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333625"/>
            <a:ext cx="1952625" cy="1333500"/>
          </a:xfrm>
          <a:prstGeom xmlns:a="http://schemas.openxmlformats.org/drawingml/2006/main" prst="roundRect">
            <a:avLst>
              <a:gd name="adj" fmla="val 12857"/>
            </a:avLst>
          </a:prstGeom>
          <a:solidFill xmlns:a="http://schemas.openxmlformats.org/drawingml/2006/main">
            <a:srgbClr val="FBE6E1"/>
          </a:solidFill>
          <a:ln xmlns:a="http://schemas.openxmlformats.org/drawingml/2006/main" w="14288">
            <a:solidFill>
              <a:srgbClr val="F36F5B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18312B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18312B"/>
                </a:solidFill>
                <a:latin typeface="Inter"/>
                <a:ea typeface="Inter"/>
                <a:cs typeface="Inter"/>
              </a:rPr>
              <a:t>Desfecho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18312B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18312B"/>
                </a:solidFill>
                <a:latin typeface="Inter"/>
                <a:ea typeface="Inter"/>
                <a:cs typeface="Inter"/>
              </a:rPr>
              <a:t>reencontro ou adoção</a:t>
            </a:r>
          </a:p>
        </p:txBody>
      </p:sp>
      <p:cxnSp>
        <p:nvCxnSpPr>
          <p:cNvPr id="33" name="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657475" y="3000375"/>
            <a:ext cx="2571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746D"/>
            </a:solidFill>
            <a:prstDash val="solid"/>
            <a:tailEnd type="triangle" w="sm" len="sm"/>
          </a:ln>
        </p:spPr>
      </p:cxnSp>
      <p:cxnSp>
        <p:nvCxnSpPr>
          <p:cNvPr id="34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867275" y="3000375"/>
            <a:ext cx="2571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746D"/>
            </a:solidFill>
            <a:prstDash val="solid"/>
            <a:tailEnd type="triangle" w="sm" len="sm"/>
          </a:ln>
        </p:spPr>
      </p:cxnSp>
      <p:cxnSp>
        <p:nvCxnSpPr>
          <p:cNvPr id="35" name=""/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7077075" y="3000375"/>
            <a:ext cx="2571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746D"/>
            </a:solidFill>
            <a:prstDash val="solid"/>
            <a:tailEnd type="triangle" w="sm" len="sm"/>
          </a:ln>
        </p:spPr>
      </p:cxnSp>
      <p:cxnSp>
        <p:nvCxnSpPr>
          <p:cNvPr id="36" name=""/>
          <p:cNvCxnSpPr>
            <a:stCxn xmlns:a="http://schemas.openxmlformats.org/drawingml/2006/main" id="11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9286875" y="3000375"/>
            <a:ext cx="2571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746D"/>
            </a:solidFill>
            <a:prstDash val="solid"/>
            <a:tailEnd type="triangle" w="sm" len="sm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887974-D349-4D40-B56C-10EA79EF2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6672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5" b="1">
                <a:solidFill>
                  <a:srgbClr val="235347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235347"/>
                </a:solidFill>
                <a:latin typeface="Inter"/>
                <a:ea typeface="Inter"/>
                <a:cs typeface="Inter"/>
              </a:rPr>
              <a:t>Cada mudança de estado gera um evento e mantém todos os participantes atualizados.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B19E60-4290-4CDC-97FA-02E890E64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391150"/>
            <a:ext cx="628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5F746D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5F746D"/>
                </a:solidFill>
                <a:latin typeface="Inter"/>
                <a:ea typeface="Inter"/>
                <a:cs typeface="Inter"/>
              </a:rPr>
              <a:t>O caso só termina quando existe um desfecho registrado.</a:t>
            </a:r>
          </a:p>
        </p:txBody>
      </p:sp>
    </p:spTree>
    <p:extLst>
      <p:ext uri="{BB962C8B-B14F-4D97-AF65-F5344CB8AC3E}">
        <p14:creationId xmlns:p14="http://schemas.microsoft.com/office/powerpoint/2010/main" val="38179056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831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E264CB-4C42-40CA-9593-B1D25978A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81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255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Arquitetura proposta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517F3F-28E1-4507-B4E8-6AC369F81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762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A9D8C0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A9D8C0"/>
                </a:solidFill>
                <a:latin typeface="Inter"/>
                <a:ea typeface="Inter"/>
                <a:cs typeface="Inter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3DAE5B-5DFF-4A5F-A40C-5039FFCFD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A9D8C0"/>
                </a:solidFill>
                <a:latin typeface="Inter"/>
                <a:ea typeface="Inter"/>
                <a:cs typeface="Inter"/>
              </a:defRPr>
            </a:pPr>
            <a:r>
              <a:rPr sz="825" b="0">
                <a:solidFill>
                  <a:srgbClr val="A9D8C0"/>
                </a:solidFill>
                <a:latin typeface="Inter"/>
                <a:ea typeface="Inter"/>
                <a:cs typeface="Inter"/>
              </a:rPr>
              <a:t>Ampara / Sistemas Distribuídos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356069-46A5-4644-A9E4-3E84E9ABD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62050"/>
            <a:ext cx="2333625" cy="819150"/>
          </a:xfrm>
          <a:prstGeom xmlns:a="http://schemas.openxmlformats.org/drawingml/2006/main" prst="roundRect">
            <a:avLst>
              <a:gd name="adj" fmla="val 20930"/>
            </a:avLst>
          </a:prstGeom>
          <a:solidFill xmlns:a="http://schemas.openxmlformats.org/drawingml/2006/main">
            <a:srgbClr val="F7F2E8"/>
          </a:solidFill>
          <a:ln xmlns:a="http://schemas.openxmlformats.org/drawingml/2006/main" w="14288">
            <a:solidFill>
              <a:srgbClr val="F7F2E8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9976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8312B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18312B"/>
                </a:solidFill>
                <a:latin typeface="Inter"/>
                <a:ea typeface="Inter"/>
                <a:cs typeface="Inter"/>
              </a:rPr>
              <a:t>Aplicativo mobile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8312B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18312B"/>
                </a:solidFill>
                <a:latin typeface="Inter"/>
                <a:ea typeface="Inter"/>
                <a:cs typeface="Inter"/>
              </a:rPr>
              <a:t>Cidadãos e adotantes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8EBE01-DE3F-49F2-BBEA-94ABFF7BA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1123950"/>
            <a:ext cx="2381250" cy="895350"/>
          </a:xfrm>
          <a:prstGeom xmlns:a="http://schemas.openxmlformats.org/drawingml/2006/main" prst="roundRect">
            <a:avLst>
              <a:gd name="adj" fmla="val 19149"/>
            </a:avLst>
          </a:prstGeom>
          <a:solidFill xmlns:a="http://schemas.openxmlformats.org/drawingml/2006/main">
            <a:srgbClr val="F36F5B"/>
          </a:solidFill>
          <a:ln xmlns:a="http://schemas.openxmlformats.org/drawingml/2006/main" w="14288">
            <a:solidFill>
              <a:srgbClr val="F36F5B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8393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API Gateway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Autenticação e roteamento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A9DDDA-0159-4A5C-9DD4-8053CDACD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1162050"/>
            <a:ext cx="2333625" cy="819150"/>
          </a:xfrm>
          <a:prstGeom xmlns:a="http://schemas.openxmlformats.org/drawingml/2006/main" prst="roundRect">
            <a:avLst>
              <a:gd name="adj" fmla="val 20930"/>
            </a:avLst>
          </a:prstGeom>
          <a:solidFill xmlns:a="http://schemas.openxmlformats.org/drawingml/2006/main">
            <a:srgbClr val="F7F2E8"/>
          </a:solidFill>
          <a:ln xmlns:a="http://schemas.openxmlformats.org/drawingml/2006/main" w="14288">
            <a:solidFill>
              <a:srgbClr val="F7F2E8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8312B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18312B"/>
                </a:solidFill>
                <a:latin typeface="Inter"/>
                <a:ea typeface="Inter"/>
                <a:cs typeface="Inter"/>
              </a:rPr>
              <a:t>Painel web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8312B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18312B"/>
                </a:solidFill>
                <a:latin typeface="Inter"/>
                <a:ea typeface="Inter"/>
                <a:cs typeface="Inter"/>
              </a:rPr>
              <a:t>ONGs e protetores</a:t>
            </a:r>
          </a:p>
        </p:txBody>
      </p:sp>
      <p:cxnSp>
        <p:nvCxnSpPr>
          <p:cNvPr id="27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981325" y="1571625"/>
            <a:ext cx="1924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9D8C0"/>
            </a:solidFill>
            <a:prstDash val="solid"/>
            <a:tailEnd type="triangle" w="sm" len="sm"/>
          </a:ln>
        </p:spPr>
      </p:cxnSp>
      <p:cxnSp>
        <p:nvCxnSpPr>
          <p:cNvPr id="28" name=""/>
          <p:cNvCxnSpPr>
            <a:stCxn xmlns:a="http://schemas.openxmlformats.org/drawingml/2006/main" id="6" idx="1"/>
            <a:endCxn xmlns:a="http://schemas.openxmlformats.org/drawingml/2006/main" id="5" idx="3"/>
          </p:cNvCxnSpPr>
          <p:nvPr/>
        </p:nvCxnSpPr>
        <p:spPr>
          <a:xfrm xmlns:a="http://schemas.openxmlformats.org/drawingml/2006/main" flipH="1">
            <a:off x="7286625" y="1571625"/>
            <a:ext cx="1924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9D8C0"/>
            </a:solidFill>
            <a:prstDash val="solid"/>
            <a:tailEnd type="triangle" w="sm" len="sm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027883-E92B-451D-80C7-47BEE4457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9825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A9D8C0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A9D8C0"/>
                </a:solidFill>
                <a:latin typeface="Inter"/>
                <a:ea typeface="Inter"/>
                <a:cs typeface="Inter"/>
              </a:rPr>
              <a:t>4 MICROSSERVIÇOS DE DOMÍNIO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041E9B-19DA-4B5A-A939-F5BA12D0A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76550"/>
            <a:ext cx="2333625" cy="1562100"/>
          </a:xfrm>
          <a:prstGeom xmlns:a="http://schemas.openxmlformats.org/drawingml/2006/main" prst="roundRect">
            <a:avLst>
              <a:gd name="adj" fmla="val 109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9D8C0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8312B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18312B"/>
                </a:solidFill>
                <a:latin typeface="Inter"/>
                <a:ea typeface="Inter"/>
                <a:cs typeface="Inter"/>
              </a:rPr>
              <a:t>Ocorrências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8312B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18312B"/>
                </a:solidFill>
                <a:latin typeface="Inter"/>
                <a:ea typeface="Inter"/>
                <a:cs typeface="Inter"/>
              </a:rPr>
              <a:t>localização e alertas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8312B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18312B"/>
                </a:solidFill>
                <a:latin typeface="Inter"/>
                <a:ea typeface="Inter"/>
                <a:cs typeface="Inter"/>
              </a:rPr>
              <a:t>PostgreSQL 01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8312B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18312B"/>
                </a:solidFill>
                <a:latin typeface="Inter"/>
                <a:ea typeface="Inter"/>
                <a:cs typeface="Inter"/>
              </a:rPr>
              <a:t>instância própria</a:t>
            </a:r>
          </a:p>
        </p:txBody>
      </p:sp>
      <p:cxnSp>
        <p:nvCxnSpPr>
          <p:cNvPr id="31" name=""/>
          <p:cNvCxnSpPr>
            <a:stCxn xmlns:a="http://schemas.openxmlformats.org/drawingml/2006/main" id="5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 flipH="1">
            <a:off x="1738313" y="2019300"/>
            <a:ext cx="4357688" cy="8572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A9D8C0"/>
            </a:solidFill>
            <a:prstDash val="soli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8E600C-0274-4C90-97AB-E6FFAF618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876550"/>
            <a:ext cx="2333625" cy="1562100"/>
          </a:xfrm>
          <a:prstGeom xmlns:a="http://schemas.openxmlformats.org/drawingml/2006/main" prst="roundRect">
            <a:avLst>
              <a:gd name="adj" fmla="val 109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9D8C0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8312B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18312B"/>
                </a:solidFill>
                <a:latin typeface="Inter"/>
                <a:ea typeface="Inter"/>
                <a:cs typeface="Inter"/>
              </a:rPr>
              <a:t>Animais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8312B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18312B"/>
                </a:solidFill>
                <a:latin typeface="Inter"/>
                <a:ea typeface="Inter"/>
                <a:cs typeface="Inter"/>
              </a:rPr>
              <a:t>perfil, saúde e estado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8312B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18312B"/>
                </a:solidFill>
                <a:latin typeface="Inter"/>
                <a:ea typeface="Inter"/>
                <a:cs typeface="Inter"/>
              </a:rPr>
              <a:t>PostgreSQL 02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8312B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18312B"/>
                </a:solidFill>
                <a:latin typeface="Inter"/>
                <a:ea typeface="Inter"/>
                <a:cs typeface="Inter"/>
              </a:rPr>
              <a:t>instância própria</a:t>
            </a:r>
          </a:p>
        </p:txBody>
      </p:sp>
      <p:cxnSp>
        <p:nvCxnSpPr>
          <p:cNvPr id="33" name=""/>
          <p:cNvCxnSpPr>
            <a:stCxn xmlns:a="http://schemas.openxmlformats.org/drawingml/2006/main" id="5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 flipH="1">
            <a:off x="4643438" y="2019300"/>
            <a:ext cx="1452563" cy="8572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A9D8C0"/>
            </a:solidFill>
            <a:prstDash val="soli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CED7FD-AAB1-4077-94B8-80E3D4C60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76550"/>
            <a:ext cx="2333625" cy="1562100"/>
          </a:xfrm>
          <a:prstGeom xmlns:a="http://schemas.openxmlformats.org/drawingml/2006/main" prst="roundRect">
            <a:avLst>
              <a:gd name="adj" fmla="val 109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9D8C0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8312B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18312B"/>
                </a:solidFill>
                <a:latin typeface="Inter"/>
                <a:ea typeface="Inter"/>
                <a:cs typeface="Inter"/>
              </a:rPr>
              <a:t>Acolhimento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8312B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18312B"/>
                </a:solidFill>
                <a:latin typeface="Inter"/>
                <a:ea typeface="Inter"/>
                <a:cs typeface="Inter"/>
              </a:rPr>
              <a:t>ONGs, vagas e entrada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8312B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18312B"/>
                </a:solidFill>
                <a:latin typeface="Inter"/>
                <a:ea typeface="Inter"/>
                <a:cs typeface="Inter"/>
              </a:rPr>
              <a:t>PostgreSQL 03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8312B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18312B"/>
                </a:solidFill>
                <a:latin typeface="Inter"/>
                <a:ea typeface="Inter"/>
                <a:cs typeface="Inter"/>
              </a:rPr>
              <a:t>instância própria</a:t>
            </a:r>
          </a:p>
        </p:txBody>
      </p:sp>
      <p:cxnSp>
        <p:nvCxnSpPr>
          <p:cNvPr id="35" name=""/>
          <p:cNvCxnSpPr>
            <a:stCxn xmlns:a="http://schemas.openxmlformats.org/drawingml/2006/main" id="5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>
            <a:off x="6096000" y="2019300"/>
            <a:ext cx="1452563" cy="8572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A9D8C0"/>
            </a:solidFill>
            <a:prstDash val="soli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EF049F-3E42-4EF5-A313-6B67999E6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876550"/>
            <a:ext cx="2333625" cy="1562100"/>
          </a:xfrm>
          <a:prstGeom xmlns:a="http://schemas.openxmlformats.org/drawingml/2006/main" prst="roundRect">
            <a:avLst>
              <a:gd name="adj" fmla="val 109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9D8C0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8312B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18312B"/>
                </a:solidFill>
                <a:latin typeface="Inter"/>
                <a:ea typeface="Inter"/>
                <a:cs typeface="Inter"/>
              </a:rPr>
              <a:t>Adoções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8312B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18312B"/>
                </a:solidFill>
                <a:latin typeface="Inter"/>
                <a:ea typeface="Inter"/>
                <a:cs typeface="Inter"/>
              </a:rPr>
              <a:t>candidatura e termo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8312B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18312B"/>
                </a:solidFill>
                <a:latin typeface="Inter"/>
                <a:ea typeface="Inter"/>
                <a:cs typeface="Inter"/>
              </a:rPr>
              <a:t>PostgreSQL 04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8312B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18312B"/>
                </a:solidFill>
                <a:latin typeface="Inter"/>
                <a:ea typeface="Inter"/>
                <a:cs typeface="Inter"/>
              </a:rPr>
              <a:t>instância própria</a:t>
            </a:r>
          </a:p>
        </p:txBody>
      </p:sp>
      <p:cxnSp>
        <p:nvCxnSpPr>
          <p:cNvPr id="37" name=""/>
          <p:cNvCxnSpPr>
            <a:stCxn xmlns:a="http://schemas.openxmlformats.org/drawingml/2006/main" id="5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6096000" y="2019300"/>
            <a:ext cx="4357688" cy="8572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A9D8C0"/>
            </a:solidFill>
            <a:prstDash val="soli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AC0885-3D7F-42EE-80A1-A6F2EE2ED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953000"/>
            <a:ext cx="704850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5B84B"/>
          </a:solidFill>
          <a:ln xmlns:a="http://schemas.openxmlformats.org/drawingml/2006/main" w="14288">
            <a:solidFill>
              <a:srgbClr val="F5B84B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8312B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18312B"/>
                </a:solidFill>
                <a:latin typeface="Inter"/>
                <a:ea typeface="Inter"/>
                <a:cs typeface="Inter"/>
              </a:rPr>
              <a:t>RabbitMQ / eventos de domínio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96D2E4-325E-4FE8-8029-6D844A7C9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619750"/>
            <a:ext cx="7715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0">
                <a:solidFill>
                  <a:srgbClr val="F7F2E8"/>
                </a:solidFill>
                <a:latin typeface="Inter"/>
                <a:ea typeface="Inter"/>
                <a:cs typeface="Inter"/>
              </a:defRPr>
            </a:pPr>
            <a:r>
              <a:rPr sz="1125" b="0">
                <a:solidFill>
                  <a:srgbClr val="F7F2E8"/>
                </a:solidFill>
                <a:latin typeface="Inter"/>
                <a:ea typeface="Inter"/>
                <a:cs typeface="Inter"/>
              </a:rPr>
              <a:t>Os serviços publicam e consomem eventos sem acessar o banco de outro domínio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AAC767-79C3-40F3-B196-01376CA28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>
                <a:solidFill>
                  <a:srgbClr val="F7F2E8"/>
                </a:solidFill>
                <a:latin typeface="Inter"/>
                <a:ea typeface="Inter"/>
                <a:cs typeface="Inter"/>
              </a:defRPr>
            </a:pPr>
            <a:r>
              <a:rPr sz="975" b="0">
                <a:solidFill>
                  <a:srgbClr val="F7F2E8"/>
                </a:solidFill>
                <a:latin typeface="Inter"/>
                <a:ea typeface="Inter"/>
                <a:cs typeface="Inter"/>
              </a:rPr>
              <a:t>Fotos: S3 compatível  /  Mapas: provedor de geolocalização  /  Notificações: e-mail e push</a:t>
            </a:r>
          </a:p>
        </p:txBody>
      </p:sp>
    </p:spTree>
    <p:extLst>
      <p:ext uri="{BB962C8B-B14F-4D97-AF65-F5344CB8AC3E}">
        <p14:creationId xmlns:p14="http://schemas.microsoft.com/office/powerpoint/2010/main" val="2305395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DDE3CC-296A-4E60-804C-353D3C608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81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8312B"/>
                </a:solidFill>
                <a:latin typeface="Inter"/>
                <a:ea typeface="Inter"/>
                <a:cs typeface="Inter"/>
              </a:defRPr>
            </a:pPr>
            <a:r>
              <a:rPr sz="2550" b="1">
                <a:solidFill>
                  <a:srgbClr val="18312B"/>
                </a:solidFill>
                <a:latin typeface="Inter"/>
                <a:ea typeface="Inter"/>
                <a:cs typeface="Inter"/>
              </a:rPr>
              <a:t>SAGA de conclusão da adoção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5A7DAF-84D1-4C10-8B15-5AD3FA63A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762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235347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235347"/>
                </a:solidFill>
                <a:latin typeface="Inter"/>
                <a:ea typeface="Inter"/>
                <a:cs typeface="Inter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563B3A-2D68-4731-82B2-6FA8F0926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F746D"/>
                </a:solidFill>
                <a:latin typeface="Inter"/>
                <a:ea typeface="Inter"/>
                <a:cs typeface="Inter"/>
              </a:defRPr>
            </a:pPr>
            <a:r>
              <a:rPr sz="825" b="0">
                <a:solidFill>
                  <a:srgbClr val="5F746D"/>
                </a:solidFill>
                <a:latin typeface="Inter"/>
                <a:ea typeface="Inter"/>
                <a:cs typeface="Inter"/>
              </a:rPr>
              <a:t>Ampara / Sistemas Distribuídos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A775F8-7D15-4559-B07E-1D5CF9529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990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235347"/>
                </a:solidFill>
                <a:latin typeface="Inter"/>
                <a:ea typeface="Inter"/>
                <a:cs typeface="Inter"/>
              </a:defRPr>
            </a:pPr>
            <a:r>
              <a:rPr sz="2025" b="1">
                <a:solidFill>
                  <a:srgbClr val="235347"/>
                </a:solidFill>
                <a:latin typeface="Inter"/>
                <a:ea typeface="Inter"/>
                <a:cs typeface="Inter"/>
              </a:rPr>
              <a:t>Uma adoção altera quatro domínios sem compartilhar banco de dados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87DDB6-29C4-47AF-94E3-48FBE87C4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19431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F36F5B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F36F5B"/>
                </a:solidFill>
                <a:latin typeface="Inter"/>
                <a:ea typeface="Inter"/>
                <a:cs typeface="Inter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5E5039-0A1C-4D7A-85D8-11352E7B9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2362200" cy="1104900"/>
          </a:xfrm>
          <a:prstGeom xmlns:a="http://schemas.openxmlformats.org/drawingml/2006/main" prst="roundRect">
            <a:avLst>
              <a:gd name="adj" fmla="val 1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9D8C0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18312B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18312B"/>
                </a:solidFill>
                <a:latin typeface="Inter"/>
                <a:ea typeface="Inter"/>
                <a:cs typeface="Inter"/>
              </a:rPr>
              <a:t>Adoções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18312B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18312B"/>
                </a:solidFill>
                <a:latin typeface="Inter"/>
                <a:ea typeface="Inter"/>
                <a:cs typeface="Inter"/>
              </a:rPr>
              <a:t>aprova a candidatura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30B14C-A8F7-47F0-8D4C-A36646FF5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9431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F36F5B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F36F5B"/>
                </a:solidFill>
                <a:latin typeface="Inter"/>
                <a:ea typeface="Inter"/>
                <a:cs typeface="Inter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2734A6-CC94-4D5B-A054-15B318F16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62200"/>
            <a:ext cx="2362200" cy="1104900"/>
          </a:xfrm>
          <a:prstGeom xmlns:a="http://schemas.openxmlformats.org/drawingml/2006/main" prst="roundRect">
            <a:avLst>
              <a:gd name="adj" fmla="val 1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9D8C0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18312B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18312B"/>
                </a:solidFill>
                <a:latin typeface="Inter"/>
                <a:ea typeface="Inter"/>
                <a:cs typeface="Inter"/>
              </a:rPr>
              <a:t>Animais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18312B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18312B"/>
                </a:solidFill>
                <a:latin typeface="Inter"/>
                <a:ea typeface="Inter"/>
                <a:cs typeface="Inter"/>
              </a:rPr>
              <a:t>marca como adotado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984318-6001-404E-86EE-FEC9FC3A4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19431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F36F5B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F36F5B"/>
                </a:solidFill>
                <a:latin typeface="Inter"/>
                <a:ea typeface="Inter"/>
                <a:cs typeface="Inter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0CF69F-801C-49A4-B18F-C00329173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362200"/>
            <a:ext cx="2362200" cy="1104900"/>
          </a:xfrm>
          <a:prstGeom xmlns:a="http://schemas.openxmlformats.org/drawingml/2006/main" prst="roundRect">
            <a:avLst>
              <a:gd name="adj" fmla="val 1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9D8C0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18312B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18312B"/>
                </a:solidFill>
                <a:latin typeface="Inter"/>
                <a:ea typeface="Inter"/>
                <a:cs typeface="Inter"/>
              </a:rPr>
              <a:t>Acolhimento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18312B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18312B"/>
                </a:solidFill>
                <a:latin typeface="Inter"/>
                <a:ea typeface="Inter"/>
                <a:cs typeface="Inter"/>
              </a:rPr>
              <a:t>libera a vaga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5B8AEC-8333-4FEC-84AC-4DD376780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19431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F36F5B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F36F5B"/>
                </a:solidFill>
                <a:latin typeface="Inter"/>
                <a:ea typeface="Inter"/>
                <a:cs typeface="Inter"/>
              </a:rPr>
              <a:t>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88460A-4FDA-42C0-88AB-179AA8EB4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362200"/>
            <a:ext cx="2362200" cy="1104900"/>
          </a:xfrm>
          <a:prstGeom xmlns:a="http://schemas.openxmlformats.org/drawingml/2006/main" prst="roundRect">
            <a:avLst>
              <a:gd name="adj" fmla="val 1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9D8C0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18312B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18312B"/>
                </a:solidFill>
                <a:latin typeface="Inter"/>
                <a:ea typeface="Inter"/>
                <a:cs typeface="Inter"/>
              </a:rPr>
              <a:t>Ocorrências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18312B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18312B"/>
                </a:solidFill>
                <a:latin typeface="Inter"/>
                <a:ea typeface="Inter"/>
                <a:cs typeface="Inter"/>
              </a:rPr>
              <a:t>encerra o caso original</a:t>
            </a:r>
          </a:p>
        </p:txBody>
      </p:sp>
      <p:cxnSp>
        <p:nvCxnSpPr>
          <p:cNvPr id="31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048000" y="29146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35347"/>
            </a:solidFill>
            <a:prstDash val="solid"/>
            <a:tailEnd type="triangle" w="sm" len="sm"/>
          </a:ln>
        </p:spPr>
      </p:cxnSp>
      <p:cxnSp>
        <p:nvCxnSpPr>
          <p:cNvPr id="32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886450" y="29146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35347"/>
            </a:solidFill>
            <a:prstDash val="solid"/>
            <a:tailEnd type="triangle" w="sm" len="sm"/>
          </a:ln>
        </p:spPr>
      </p:cxnSp>
      <p:cxnSp>
        <p:nvCxnSpPr>
          <p:cNvPr id="33" name=""/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8724900" y="29146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35347"/>
            </a:solidFill>
            <a:prstDash val="solid"/>
            <a:tailEnd type="triangle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7155BF-D078-434E-B70B-6ED0D2884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10075"/>
            <a:ext cx="2381250" cy="590550"/>
          </a:xfrm>
          <a:prstGeom xmlns:a="http://schemas.openxmlformats.org/drawingml/2006/main" prst="roundRect">
            <a:avLst>
              <a:gd name="adj" fmla="val 29032"/>
            </a:avLst>
          </a:prstGeom>
          <a:solidFill xmlns:a="http://schemas.openxmlformats.org/drawingml/2006/main">
            <a:srgbClr val="FBE6E1"/>
          </a:solidFill>
          <a:ln xmlns:a="http://schemas.openxmlformats.org/drawingml/2006/main" w="14288">
            <a:solidFill>
              <a:srgbClr val="F36F5B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36F5B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F36F5B"/>
                </a:solidFill>
                <a:latin typeface="Inter"/>
                <a:ea typeface="Inter"/>
                <a:cs typeface="Inter"/>
              </a:rPr>
              <a:t>Se uma etapa falhar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12FF05-FE5D-499A-95EF-A4CA1C9CE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52925"/>
            <a:ext cx="723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8312B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18312B"/>
                </a:solidFill>
                <a:latin typeface="Inter"/>
                <a:ea typeface="Inter"/>
                <a:cs typeface="Inter"/>
              </a:rPr>
              <a:t>a SAGA executa compensações: reabre o caso, restaura a vaga e devolve o animal ao estado disponível.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3A15C5-603D-4E4D-B45F-A66FA5863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61975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5F746D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5F746D"/>
                </a:solidFill>
                <a:latin typeface="Inter"/>
                <a:ea typeface="Inter"/>
                <a:cs typeface="Inter"/>
              </a:rPr>
              <a:t>O histórico de eventos permite rastrear cada passo e evitar estados contraditórios.</a:t>
            </a:r>
          </a:p>
        </p:txBody>
      </p:sp>
    </p:spTree>
    <p:extLst>
      <p:ext uri="{BB962C8B-B14F-4D97-AF65-F5344CB8AC3E}">
        <p14:creationId xmlns:p14="http://schemas.microsoft.com/office/powerpoint/2010/main" val="58263946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644B93-D396-4D60-A9A8-66864D3C1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81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8312B"/>
                </a:solidFill>
                <a:latin typeface="Inter"/>
                <a:ea typeface="Inter"/>
                <a:cs typeface="Inter"/>
              </a:defRPr>
            </a:pPr>
            <a:r>
              <a:rPr sz="2550" b="1">
                <a:solidFill>
                  <a:srgbClr val="18312B"/>
                </a:solidFill>
                <a:latin typeface="Inter"/>
                <a:ea typeface="Inter"/>
                <a:cs typeface="Inter"/>
              </a:rPr>
              <a:t>Base técnica e entrega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AE22D5-D8AE-42CD-813D-555A3D03B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762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235347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235347"/>
                </a:solidFill>
                <a:latin typeface="Inter"/>
                <a:ea typeface="Inter"/>
                <a:cs typeface="Inter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EC8200-CE35-47AF-B338-35ED67658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F746D"/>
                </a:solidFill>
                <a:latin typeface="Inter"/>
                <a:ea typeface="Inter"/>
                <a:cs typeface="Inter"/>
              </a:defRPr>
            </a:pPr>
            <a:r>
              <a:rPr sz="825" b="0">
                <a:solidFill>
                  <a:srgbClr val="5F746D"/>
                </a:solidFill>
                <a:latin typeface="Inter"/>
                <a:ea typeface="Inter"/>
                <a:cs typeface="Inter"/>
              </a:rPr>
              <a:t>Ampara / Sistemas Distribuídos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58D415-D010-47F9-85CF-3373C99E1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62075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F36F5B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F36F5B"/>
                </a:solidFill>
                <a:latin typeface="Inter"/>
                <a:ea typeface="Inter"/>
                <a:cs typeface="Inter"/>
              </a:rPr>
              <a:t>Clientes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46313C-687F-4FAA-8BC4-F229A7B21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219200"/>
            <a:ext cx="571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8312B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18312B"/>
                </a:solidFill>
                <a:latin typeface="Inter"/>
                <a:ea typeface="Inter"/>
                <a:cs typeface="Inter"/>
              </a:rPr>
              <a:t>React Native com Expo no aplicativo mobile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8312B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18312B"/>
                </a:solidFill>
                <a:latin typeface="Inter"/>
                <a:ea typeface="Inter"/>
                <a:cs typeface="Inter"/>
              </a:rPr>
              <a:t>React com TypeScript no painel web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AB7C45-79CD-4AD7-9C75-2916A80AA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288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F36F5B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F36F5B"/>
                </a:solidFill>
                <a:latin typeface="Inter"/>
                <a:ea typeface="Inter"/>
                <a:cs typeface="Inter"/>
              </a:rPr>
              <a:t>Backend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DD1E2C-37D0-4A23-8106-1F6FDB623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085975"/>
            <a:ext cx="571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8312B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18312B"/>
                </a:solidFill>
                <a:latin typeface="Inter"/>
                <a:ea typeface="Inter"/>
                <a:cs typeface="Inter"/>
              </a:rPr>
              <a:t>NestJS com TypeScript em quatro serviços independentes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BCEBA1-97AA-4422-B4BC-4555872B3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95625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F36F5B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F36F5B"/>
                </a:solidFill>
                <a:latin typeface="Inter"/>
                <a:ea typeface="Inter"/>
                <a:cs typeface="Inter"/>
              </a:rPr>
              <a:t>Dados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886B72-7B76-4671-BE9B-3C90BB1D7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952750"/>
            <a:ext cx="571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8312B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18312B"/>
                </a:solidFill>
                <a:latin typeface="Inter"/>
                <a:ea typeface="Inter"/>
                <a:cs typeface="Inter"/>
              </a:rPr>
              <a:t>PostgreSQL com uma instância separada por microsserviço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9F6762-D386-4679-B705-12E8DD799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6240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F36F5B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F36F5B"/>
                </a:solidFill>
                <a:latin typeface="Inter"/>
                <a:ea typeface="Inter"/>
                <a:cs typeface="Inter"/>
              </a:rPr>
              <a:t>Integração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98828F-B329-4405-A7A7-9DF6B37CC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819525"/>
            <a:ext cx="571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8312B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18312B"/>
                </a:solidFill>
                <a:latin typeface="Inter"/>
                <a:ea typeface="Inter"/>
                <a:cs typeface="Inter"/>
              </a:rPr>
              <a:t>API Gateway para REST e RabbitMQ para eventos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7C4C4C-58EA-4C40-9BA2-82DFD84FC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29175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F36F5B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F36F5B"/>
                </a:solidFill>
                <a:latin typeface="Inter"/>
                <a:ea typeface="Inter"/>
                <a:cs typeface="Inter"/>
              </a:rPr>
              <a:t>Operação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E19DEA-CF9A-4AC9-A656-B5C0AE163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686300"/>
            <a:ext cx="571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8312B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18312B"/>
                </a:solidFill>
                <a:latin typeface="Inter"/>
                <a:ea typeface="Inter"/>
                <a:cs typeface="Inter"/>
              </a:rPr>
              <a:t>Docker Compose, testes automatizados e GitHub Actions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168437-01F9-454D-AEB7-709AAD551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352550"/>
            <a:ext cx="2095500" cy="647700"/>
          </a:xfrm>
          <a:prstGeom xmlns:a="http://schemas.openxmlformats.org/drawingml/2006/main" prst="roundRect">
            <a:avLst>
              <a:gd name="adj" fmla="val 26471"/>
            </a:avLst>
          </a:prstGeom>
          <a:solidFill xmlns:a="http://schemas.openxmlformats.org/drawingml/2006/main">
            <a:srgbClr val="235347"/>
          </a:solidFill>
          <a:ln xmlns:a="http://schemas.openxmlformats.org/drawingml/2006/main" w="14288">
            <a:solidFill>
              <a:srgbClr val="235347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GitHub público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3DB712-6D20-45D2-B404-0CC15A52D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305050"/>
            <a:ext cx="2095500" cy="647700"/>
          </a:xfrm>
          <a:prstGeom xmlns:a="http://schemas.openxmlformats.org/drawingml/2006/main" prst="roundRect">
            <a:avLst>
              <a:gd name="adj" fmla="val 264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9D8C0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8312B"/>
                </a:solidFill>
                <a:latin typeface="Inter"/>
                <a:ea typeface="Inter"/>
                <a:cs typeface="Inter"/>
              </a:defRPr>
            </a:pPr>
            <a:r>
              <a:rPr sz="1425" b="1">
                <a:solidFill>
                  <a:srgbClr val="18312B"/>
                </a:solidFill>
                <a:latin typeface="Inter"/>
                <a:ea typeface="Inter"/>
                <a:cs typeface="Inter"/>
              </a:rPr>
              <a:t>Branch por feature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E942C4-4572-4224-9E34-D79B8DA99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257550"/>
            <a:ext cx="2095500" cy="647700"/>
          </a:xfrm>
          <a:prstGeom xmlns:a="http://schemas.openxmlformats.org/drawingml/2006/main" prst="roundRect">
            <a:avLst>
              <a:gd name="adj" fmla="val 264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9D8C0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8312B"/>
                </a:solidFill>
                <a:latin typeface="Inter"/>
                <a:ea typeface="Inter"/>
                <a:cs typeface="Inter"/>
              </a:defRPr>
            </a:pPr>
            <a:r>
              <a:rPr sz="1425" b="1">
                <a:solidFill>
                  <a:srgbClr val="18312B"/>
                </a:solidFill>
                <a:latin typeface="Inter"/>
                <a:ea typeface="Inter"/>
                <a:cs typeface="Inter"/>
              </a:rPr>
              <a:t>PR com review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18B0DB-F4B7-4CAD-ADB2-4918C16BC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210050"/>
            <a:ext cx="2095500" cy="647700"/>
          </a:xfrm>
          <a:prstGeom xmlns:a="http://schemas.openxmlformats.org/drawingml/2006/main" prst="roundRect">
            <a:avLst>
              <a:gd name="adj" fmla="val 264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9D8C0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8670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8312B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18312B"/>
                </a:solidFill>
                <a:latin typeface="Inter"/>
                <a:ea typeface="Inter"/>
                <a:cs typeface="Inter"/>
              </a:rPr>
              <a:t>Commits dos 4 membros</a:t>
            </a:r>
          </a:p>
        </p:txBody>
      </p:sp>
    </p:spTree>
    <p:extLst>
      <p:ext uri="{BB962C8B-B14F-4D97-AF65-F5344CB8AC3E}">
        <p14:creationId xmlns:p14="http://schemas.microsoft.com/office/powerpoint/2010/main" val="227898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831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FF184D-62F5-4CF3-BA6A-D59707033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81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255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Impacto que pode ser medido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7291DA-3536-4018-8C2A-A3DD93AAF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762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A9D8C0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A9D8C0"/>
                </a:solidFill>
                <a:latin typeface="Inter"/>
                <a:ea typeface="Inter"/>
                <a:cs typeface="Inter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4F7078-9FAF-484D-BE64-DD2B8864C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A9D8C0"/>
                </a:solidFill>
                <a:latin typeface="Inter"/>
                <a:ea typeface="Inter"/>
                <a:cs typeface="Inter"/>
              </a:defRPr>
            </a:pPr>
            <a:r>
              <a:rPr sz="825" b="0">
                <a:solidFill>
                  <a:srgbClr val="A9D8C0"/>
                </a:solidFill>
                <a:latin typeface="Inter"/>
                <a:ea typeface="Inter"/>
                <a:cs typeface="Inter"/>
              </a:rPr>
              <a:t>Ampara / Sistemas Distribuídos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582C57-0C99-4FF0-8AE9-88AEAE415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790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75" b="1">
                <a:solidFill>
                  <a:srgbClr val="A9D8C0"/>
                </a:solidFill>
                <a:latin typeface="Inter"/>
                <a:ea typeface="Inter"/>
                <a:cs typeface="Inter"/>
              </a:defRPr>
            </a:pPr>
            <a:r>
              <a:rPr sz="2175" b="1">
                <a:solidFill>
                  <a:srgbClr val="A9D8C0"/>
                </a:solidFill>
                <a:latin typeface="Inter"/>
                <a:ea typeface="Inter"/>
                <a:cs typeface="Inter"/>
              </a:rPr>
              <a:t>Resultados acompanhados desde o primeiro caso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8FE8CD-E0D0-43C0-9412-171E56023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3000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F36F5B"/>
                </a:solidFill>
                <a:latin typeface="Inter"/>
                <a:ea typeface="Inter"/>
                <a:cs typeface="Inter"/>
              </a:defRPr>
            </a:pPr>
            <a:r>
              <a:rPr sz="1725" b="1">
                <a:solidFill>
                  <a:srgbClr val="F36F5B"/>
                </a:solidFill>
                <a:latin typeface="Inter"/>
                <a:ea typeface="Inter"/>
                <a:cs typeface="Inter"/>
              </a:rPr>
              <a:t>Tempo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3B9808-78C6-4A79-93BE-EB2471D8D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3000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F7F2E8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F7F2E8"/>
                </a:solidFill>
                <a:latin typeface="Inter"/>
                <a:ea typeface="Inter"/>
                <a:cs typeface="Inter"/>
              </a:rPr>
              <a:t>do registro ao primeiro atendimento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D4B7D0-7D27-43E6-A6E6-23A67623E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1962150"/>
            <a:ext cx="3000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F36F5B"/>
                </a:solidFill>
                <a:latin typeface="Inter"/>
                <a:ea typeface="Inter"/>
                <a:cs typeface="Inter"/>
              </a:defRPr>
            </a:pPr>
            <a:r>
              <a:rPr sz="1725" b="1">
                <a:solidFill>
                  <a:srgbClr val="F36F5B"/>
                </a:solidFill>
                <a:latin typeface="Inter"/>
                <a:ea typeface="Inter"/>
                <a:cs typeface="Inter"/>
              </a:rPr>
              <a:t>Desfecho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70D934-B19C-44BD-9A0B-F88D3F21D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2362200"/>
            <a:ext cx="3000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F7F2E8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F7F2E8"/>
                </a:solidFill>
                <a:latin typeface="Inter"/>
                <a:ea typeface="Inter"/>
                <a:cs typeface="Inter"/>
              </a:rPr>
              <a:t>reencontros e adoções concluídas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D183B1-D862-4936-B955-B0C212DF7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0400"/>
            <a:ext cx="3000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F36F5B"/>
                </a:solidFill>
                <a:latin typeface="Inter"/>
                <a:ea typeface="Inter"/>
                <a:cs typeface="Inter"/>
              </a:defRPr>
            </a:pPr>
            <a:r>
              <a:rPr sz="1725" b="1">
                <a:solidFill>
                  <a:srgbClr val="F36F5B"/>
                </a:solidFill>
                <a:latin typeface="Inter"/>
                <a:ea typeface="Inter"/>
                <a:cs typeface="Inter"/>
              </a:rPr>
              <a:t>Rede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CEFB4E-A0C1-476C-AB37-430A61B87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3000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F7F2E8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F7F2E8"/>
                </a:solidFill>
                <a:latin typeface="Inter"/>
                <a:ea typeface="Inter"/>
                <a:cs typeface="Inter"/>
              </a:rPr>
              <a:t>alertas atendidos e vagas mobilizadas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4D60A7-40CC-46FB-BE77-AF9796B4B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3200400"/>
            <a:ext cx="3000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F36F5B"/>
                </a:solidFill>
                <a:latin typeface="Inter"/>
                <a:ea typeface="Inter"/>
                <a:cs typeface="Inter"/>
              </a:defRPr>
            </a:pPr>
            <a:r>
              <a:rPr sz="1725" b="1">
                <a:solidFill>
                  <a:srgbClr val="F36F5B"/>
                </a:solidFill>
                <a:latin typeface="Inter"/>
                <a:ea typeface="Inter"/>
                <a:cs typeface="Inter"/>
              </a:rPr>
              <a:t>Qualidade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1002F9-F175-4CE3-BB92-401F5F8B1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3600450"/>
            <a:ext cx="3000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F7F2E8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F7F2E8"/>
                </a:solidFill>
                <a:latin typeface="Inter"/>
                <a:ea typeface="Inter"/>
                <a:cs typeface="Inter"/>
              </a:rPr>
              <a:t>devoluções e acompanhamento pós-adoção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F2C73D-E85F-4C73-B4CC-29C5EF2F8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1620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5B84B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F5B84B"/>
                </a:solidFill>
                <a:latin typeface="Inter"/>
                <a:ea typeface="Inter"/>
                <a:cs typeface="Inter"/>
              </a:rPr>
              <a:t>Referências para o pitch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EAD459-68E8-4A83-A4A7-2C62C7F26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714500"/>
            <a:ext cx="3333750" cy="3543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F7F2E8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F7F2E8"/>
                </a:solidFill>
                <a:latin typeface="Inter"/>
                <a:ea typeface="Inter"/>
                <a:cs typeface="Inter"/>
              </a:rPr>
              <a:t>CFMV. Combater os maus-tratos aos animais, 2023.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F7F2E8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F7F2E8"/>
                </a:solidFill>
                <a:latin typeface="Inter"/>
                <a:ea typeface="Inter"/>
                <a:cs typeface="Inter"/>
              </a:rPr>
              <a:t>CFMV. Políticas de enfrentamento ao abandono, 2024.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F7F2E8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F7F2E8"/>
                </a:solidFill>
                <a:latin typeface="Inter"/>
                <a:ea typeface="Inter"/>
                <a:cs typeface="Inter"/>
              </a:rPr>
              <a:t>Ministério da Saúde. Raiva Animal, consulta em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F7F2E8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F7F2E8"/>
                </a:solidFill>
                <a:latin typeface="Inter"/>
                <a:ea typeface="Inter"/>
                <a:cs typeface="Inter"/>
              </a:rPr>
              <a:t>Belo et al. Demografia de cães e gatos em Votorantim. Ciência Rural, 2015.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F7F2E8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F7F2E8"/>
                </a:solidFill>
                <a:latin typeface="Inter"/>
                <a:ea typeface="Inter"/>
                <a:cs typeface="Inter"/>
              </a:rPr>
              <a:t>Dias et al. Cães de vida livre e esterilização no Brasil. Preventive Veterinary Medicine, 2017.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7317FE-E65C-4899-9B6D-FDA678B3D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72100"/>
            <a:ext cx="447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30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Ampara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B2187F-88A0-44A0-AE70-FCAE74879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A9D8C0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A9D8C0"/>
                </a:solidFill>
                <a:latin typeface="Inter"/>
                <a:ea typeface="Inter"/>
                <a:cs typeface="Inter"/>
              </a:rPr>
              <a:t>Coordenação local para proteção animal</a:t>
            </a:r>
          </a:p>
        </p:txBody>
      </p:sp>
    </p:spTree>
    <p:extLst>
      <p:ext uri="{BB962C8B-B14F-4D97-AF65-F5344CB8AC3E}">
        <p14:creationId xmlns:p14="http://schemas.microsoft.com/office/powerpoint/2010/main" val="13246868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2026-09-11T16:56:32.9410000Z</dcterms:created>
  <dcterms:modified xsi:type="dcterms:W3CDTF">2026-09-11T16:56:32.9410000Z</dcterms:modified>
</coreProperties>
</file>