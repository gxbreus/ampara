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2.png"/><Relationship Id="rId5" Type="http://schemas.openxmlformats.org/officeDocument/2006/relationships/image" Target="../media/image-1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4.png"/><Relationship Id="rId6" Type="http://schemas.openxmlformats.org/officeDocument/2006/relationships/image" Target="../media/image-3-4.png"/><Relationship Id="rId7" Type="http://schemas.openxmlformats.org/officeDocument/2006/relationships/image" Target="../media/image-3-4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B2E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paw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502920"/>
            <a:ext cx="822960" cy="82296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2377440"/>
            <a:ext cx="7772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AMPARA</a:t>
            </a:r>
            <a:endParaRPr lang="en-US" sz="6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342900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Conectando protetores, ONGs e adotantes para dar um novo lar a quem precisa</a:t>
            </a:r>
            <a:endParaRPr lang="en-US" sz="2000" dirty="0"/>
          </a:p>
        </p:txBody>
      </p:sp>
      <p:sp>
        <p:nvSpPr>
          <p:cNvPr id="5" name="Shape 2"/>
          <p:cNvSpPr/>
          <p:nvPr/>
        </p:nvSpPr>
        <p:spPr>
          <a:xfrm>
            <a:off x="548640" y="4434840"/>
            <a:ext cx="2926080" cy="0"/>
          </a:xfrm>
          <a:prstGeom prst="line">
            <a:avLst/>
          </a:prstGeom>
          <a:noFill/>
          <a:ln w="19050">
            <a:solidFill>
              <a:srgbClr val="A7BEAE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46177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spcAft>
                <a:spcPts val="400"/>
              </a:spcAft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Distribuídos — Parte 1: Concepção e Pitch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 Gabriel Soares, Gabriel Cantanhede, Gabriel Nakazato, Mateus Vitor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63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github.com/gxbreus/ampara</a:t>
            </a:r>
            <a:endParaRPr lang="en-US" sz="1200" dirty="0"/>
          </a:p>
        </p:txBody>
      </p:sp>
      <p:pic>
        <p:nvPicPr>
          <p:cNvPr id="8" name="Image 1" descr="icon_paw_terracotta.png">    </p:cNvPr>
          <p:cNvPicPr>
            <a:picLocks noChangeAspect="1"/>
          </p:cNvPicPr>
          <p:nvPr/>
        </p:nvPicPr>
        <p:blipFill>
          <a:blip r:embed="rId2">
            <a:alphaModFix amt="45000"/>
          </a:blip>
          <a:stretch>
            <a:fillRect/>
          </a:stretch>
        </p:blipFill>
        <p:spPr>
          <a:xfrm rot="-1200000">
            <a:off x="10332720" y="548640"/>
            <a:ext cx="502920" cy="502920"/>
          </a:xfrm>
          <a:prstGeom prst="rect">
            <a:avLst/>
          </a:prstGeom>
        </p:spPr>
      </p:pic>
      <p:pic>
        <p:nvPicPr>
          <p:cNvPr id="9" name="Image 2" descr="icon_paw_terracotta.png">    </p:cNvPr>
          <p:cNvPicPr>
            <a:picLocks noChangeAspect="1"/>
          </p:cNvPicPr>
          <p:nvPr/>
        </p:nvPicPr>
        <p:blipFill>
          <a:blip r:embed="rId3">
            <a:alphaModFix amt="45000"/>
          </a:blip>
          <a:stretch>
            <a:fillRect/>
          </a:stretch>
        </p:blipFill>
        <p:spPr>
          <a:xfrm rot="900000">
            <a:off x="11064240" y="1371600"/>
            <a:ext cx="365760" cy="365760"/>
          </a:xfrm>
          <a:prstGeom prst="rect">
            <a:avLst/>
          </a:prstGeom>
        </p:spPr>
      </p:pic>
      <p:pic>
        <p:nvPicPr>
          <p:cNvPr id="10" name="Image 3" descr="icon_paw_terracotta.png">    </p:cNvPr>
          <p:cNvPicPr>
            <a:picLocks noChangeAspect="1"/>
          </p:cNvPicPr>
          <p:nvPr/>
        </p:nvPicPr>
        <p:blipFill>
          <a:blip r:embed="rId4">
            <a:alphaModFix amt="45000"/>
          </a:blip>
          <a:stretch>
            <a:fillRect/>
          </a:stretch>
        </p:blipFill>
        <p:spPr>
          <a:xfrm rot="2400000">
            <a:off x="10607040" y="2103120"/>
            <a:ext cx="457200" cy="457200"/>
          </a:xfrm>
          <a:prstGeom prst="rect">
            <a:avLst/>
          </a:prstGeom>
        </p:spPr>
      </p:pic>
      <p:pic>
        <p:nvPicPr>
          <p:cNvPr id="11" name="Image 4" descr="icon_paw_terracotta.png">    </p:cNvPr>
          <p:cNvPicPr>
            <a:picLocks noChangeAspect="1"/>
          </p:cNvPicPr>
          <p:nvPr/>
        </p:nvPicPr>
        <p:blipFill>
          <a:blip r:embed="rId5">
            <a:alphaModFix amt="45000"/>
          </a:blip>
          <a:stretch>
            <a:fillRect/>
          </a:stretch>
        </p:blipFill>
        <p:spPr>
          <a:xfrm rot="-600000">
            <a:off x="11247120" y="2926080"/>
            <a:ext cx="320040" cy="3200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paw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65760"/>
            <a:ext cx="457200" cy="4572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51560" y="3474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 e a proposta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502920" y="11430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E7E8D1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problema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 milhões de cães e gatos abandonados no Brasil 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(Agência Brasil / IBGE, 2025).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~185 mil animais sob tutela de cerca de 400 ONGs e grupos de protetores 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(Instituto Pet Brasil, 2024).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Fatores comportamentais e de estilo de vida respondem por boa parte dos abandonos </a:t>
            </a:r>
            <a:endParaRPr lang="en-US" sz="1200" dirty="0"/>
          </a:p>
          <a:p>
            <a:pPr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sz="1100" i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(CRMV-SP, Rev. Educ. Cont. Med. Vet. Zootec.).</a:t>
            </a:r>
            <a:endParaRPr lang="en-US" sz="1200" dirty="0"/>
          </a:p>
          <a:p>
            <a:pPr marL="342900" indent="-342900">
              <a:lnSpc>
                <a:spcPct val="105000"/>
              </a:lnSpc>
              <a:buSzPct val="100000"/>
              <a:buChar char="•"/>
            </a:pPr>
            <a:r>
              <a:rPr lang="en-US" sz="12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Comunicação hoje fragmentada entre quem encontra, quem resgata e quem quer adotar — o fluxo depende de grupos de WhatsApp e redes sociais.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172200" y="1143000"/>
            <a:ext cx="5394960" cy="3246120"/>
          </a:xfrm>
          <a:prstGeom prst="roundRect">
            <a:avLst>
              <a:gd name="adj" fmla="val 2254"/>
            </a:avLst>
          </a:prstGeom>
          <a:solidFill>
            <a:srgbClr val="A7BEAE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92240" y="137160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solução: Ampara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1828800"/>
            <a:ext cx="475488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animais perdidos, achados ou disponíveis para adoção, com fotos e status.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Localização: busca por animais e denúncias próximas ao usuário.</a:t>
            </a:r>
            <a:endParaRPr lang="en-US" sz="1250" dirty="0"/>
          </a:p>
          <a:p>
            <a:pPr marL="342900" indent="-342900">
              <a:lnSpc>
                <a:spcPct val="11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 de ONGs e protetores conectada a adotantes cadastrados.</a:t>
            </a:r>
            <a:endParaRPr lang="en-US" sz="1250" dirty="0"/>
          </a:p>
          <a:p>
            <a:pPr marL="342900" indent="-342900">
              <a:lnSpc>
                <a:spcPct val="110000"/>
              </a:lnSpc>
              <a:buSzPct val="100000"/>
              <a:buChar char="•"/>
            </a:pPr>
            <a:r>
              <a:rPr lang="en-US" sz="12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adoção ponta a ponta, com notificações em cada etapa.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502920" y="4617720"/>
            <a:ext cx="11064240" cy="1600200"/>
          </a:xfrm>
          <a:prstGeom prst="roundRect">
            <a:avLst>
              <a:gd name="adj" fmla="val 4571"/>
            </a:avLst>
          </a:prstGeom>
          <a:solidFill>
            <a:srgbClr val="B85042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822960" y="477316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Impacto social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5138928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se beneficia: </a:t>
            </a:r>
            <a:pPr indent="0" marL="0">
              <a:lnSpc>
                <a:spcPct val="115000"/>
              </a:lnSpc>
              <a:spcAft>
                <a:spcPts val="6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animais em situação de risco, protetores e ONGs sobrecarregados, e adotantes que hoje não sabem onde procurar.
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medir: </a:t>
            </a:r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de adoções concluídas pela plataforma, tempo médio entre avistamento e resgate, e tempo médio de permanência do animal até a adoção.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con_paw_terracott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320040"/>
            <a:ext cx="411480" cy="41148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005840" y="3017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Arquitetura técnica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1005840" y="7772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microsserviços independentes · 1 banco por serviço · 2 clientes · SAGA orquestrada</a:t>
            </a:r>
            <a:endParaRPr lang="en-US" sz="1200" dirty="0"/>
          </a:p>
        </p:txBody>
      </p:sp>
      <p:sp>
        <p:nvSpPr>
          <p:cNvPr id="5" name="Shape 2"/>
          <p:cNvSpPr/>
          <p:nvPr/>
        </p:nvSpPr>
        <p:spPr>
          <a:xfrm>
            <a:off x="1463040" y="123444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7E8D1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6" name="Image 1" descr="icon_desk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371600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2057400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Web — Protetores &amp; ONGs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7982712" y="1234440"/>
            <a:ext cx="2743200" cy="640080"/>
          </a:xfrm>
          <a:prstGeom prst="roundRect">
            <a:avLst>
              <a:gd name="adj" fmla="val 10000"/>
            </a:avLst>
          </a:prstGeom>
          <a:solidFill>
            <a:srgbClr val="E7E8D1"/>
          </a:solidFill>
          <a:ln w="12700">
            <a:solidFill>
              <a:srgbClr val="B85042"/>
            </a:solidFill>
            <a:prstDash val="solid"/>
          </a:ln>
        </p:spPr>
      </p:sp>
      <p:pic>
        <p:nvPicPr>
          <p:cNvPr id="9" name="Image 2" descr="icon_mob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2" y="1371600"/>
            <a:ext cx="365760" cy="365760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577072" y="123444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Mobile — Adotantes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4572000" y="2103120"/>
            <a:ext cx="3044952" cy="502920"/>
          </a:xfrm>
          <a:prstGeom prst="roundRect">
            <a:avLst>
              <a:gd name="adj" fmla="val 12727"/>
            </a:avLst>
          </a:prstGeom>
          <a:solidFill>
            <a:srgbClr val="6B2E22"/>
          </a:solidFill>
          <a:ln/>
        </p:spPr>
      </p:sp>
      <p:sp>
        <p:nvSpPr>
          <p:cNvPr id="12" name="Text 7"/>
          <p:cNvSpPr txBox="1"/>
          <p:nvPr/>
        </p:nvSpPr>
        <p:spPr>
          <a:xfrm>
            <a:off x="4572000" y="2103120"/>
            <a:ext cx="3044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 (roteamento + validação de JWT)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2834640" y="1874520"/>
            <a:ext cx="2498598" cy="2286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4" name="Shape 9"/>
          <p:cNvSpPr/>
          <p:nvPr/>
        </p:nvSpPr>
        <p:spPr>
          <a:xfrm flipH="1">
            <a:off x="6855714" y="1874520"/>
            <a:ext cx="2498598" cy="2286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15" name="Shape 10"/>
          <p:cNvSpPr/>
          <p:nvPr/>
        </p:nvSpPr>
        <p:spPr>
          <a:xfrm>
            <a:off x="457200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E7E8D1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66928" y="3154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Identidade</a:t>
            </a:r>
            <a:endParaRPr lang="en-US" sz="1300" dirty="0"/>
          </a:p>
        </p:txBody>
      </p:sp>
      <p:sp>
        <p:nvSpPr>
          <p:cNvPr id="17" name="Text 12"/>
          <p:cNvSpPr txBox="1"/>
          <p:nvPr/>
        </p:nvSpPr>
        <p:spPr>
          <a:xfrm>
            <a:off x="566928" y="363016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NestJS</a:t>
            </a:r>
            <a:endParaRPr lang="en-US" sz="1050" dirty="0"/>
          </a:p>
        </p:txBody>
      </p:sp>
      <p:pic>
        <p:nvPicPr>
          <p:cNvPr id="18" name="Image 3" descr="icon_db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8760" y="3886200"/>
            <a:ext cx="256032" cy="25603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66928" y="41422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 flipH="1">
            <a:off x="1645920" y="2606040"/>
            <a:ext cx="4448556" cy="457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1" name="Shape 15"/>
          <p:cNvSpPr/>
          <p:nvPr/>
        </p:nvSpPr>
        <p:spPr>
          <a:xfrm>
            <a:off x="3422599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E7E8D1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16"/>
          <p:cNvSpPr txBox="1"/>
          <p:nvPr/>
        </p:nvSpPr>
        <p:spPr>
          <a:xfrm>
            <a:off x="3532327" y="3154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Animais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3532327" y="363016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050" dirty="0"/>
          </a:p>
        </p:txBody>
      </p:sp>
      <p:pic>
        <p:nvPicPr>
          <p:cNvPr id="24" name="Image 4" descr="icon_d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74159" y="3886200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3532327" y="41422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MongoDB</a:t>
            </a:r>
            <a:endParaRPr lang="en-US" sz="950" dirty="0"/>
          </a:p>
        </p:txBody>
      </p:sp>
      <p:sp>
        <p:nvSpPr>
          <p:cNvPr id="26" name="Shape 19"/>
          <p:cNvSpPr/>
          <p:nvPr/>
        </p:nvSpPr>
        <p:spPr>
          <a:xfrm flipH="1">
            <a:off x="4611319" y="2606040"/>
            <a:ext cx="1483157" cy="457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27" name="Shape 20"/>
          <p:cNvSpPr/>
          <p:nvPr/>
        </p:nvSpPr>
        <p:spPr>
          <a:xfrm>
            <a:off x="6387998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A7BEAE"/>
          </a:solidFill>
          <a:ln w="22225">
            <a:solidFill>
              <a:srgbClr val="6B2E22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6497726" y="3154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Adoção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(orquestrador SAGA)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6497726" y="363016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</a:t>
            </a:r>
            <a:endParaRPr lang="en-US" sz="1050" dirty="0"/>
          </a:p>
        </p:txBody>
      </p:sp>
      <p:pic>
        <p:nvPicPr>
          <p:cNvPr id="30" name="Image 5" descr="icon_db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9558" y="3886200"/>
            <a:ext cx="256032" cy="25603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497726" y="41422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32" name="Shape 24"/>
          <p:cNvSpPr/>
          <p:nvPr/>
        </p:nvSpPr>
        <p:spPr>
          <a:xfrm>
            <a:off x="6094476" y="2606040"/>
            <a:ext cx="1482242" cy="457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3" name="Shape 25"/>
          <p:cNvSpPr/>
          <p:nvPr/>
        </p:nvSpPr>
        <p:spPr>
          <a:xfrm>
            <a:off x="9353398" y="3063240"/>
            <a:ext cx="2377440" cy="1143000"/>
          </a:xfrm>
          <a:prstGeom prst="roundRect">
            <a:avLst>
              <a:gd name="adj" fmla="val 6400"/>
            </a:avLst>
          </a:prstGeom>
          <a:solidFill>
            <a:srgbClr val="E7E8D1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4" name="Text 26"/>
          <p:cNvSpPr txBox="1"/>
          <p:nvPr/>
        </p:nvSpPr>
        <p:spPr>
          <a:xfrm>
            <a:off x="9463126" y="3154680"/>
            <a:ext cx="21579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6B2E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Notificações</a:t>
            </a:r>
            <a:endParaRPr lang="en-US" sz="1300" dirty="0"/>
          </a:p>
        </p:txBody>
      </p:sp>
      <p:sp>
        <p:nvSpPr>
          <p:cNvPr id="35" name="Text 27"/>
          <p:cNvSpPr txBox="1"/>
          <p:nvPr/>
        </p:nvSpPr>
        <p:spPr>
          <a:xfrm>
            <a:off x="9463126" y="3630168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FastAPI</a:t>
            </a:r>
            <a:endParaRPr lang="en-US" sz="1050" dirty="0"/>
          </a:p>
        </p:txBody>
      </p:sp>
      <p:pic>
        <p:nvPicPr>
          <p:cNvPr id="36" name="Image 6" descr="icon_db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958" y="3886200"/>
            <a:ext cx="256032" cy="256032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9463126" y="4142232"/>
            <a:ext cx="21579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080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</a:t>
            </a:r>
            <a:endParaRPr lang="en-US" sz="950" dirty="0"/>
          </a:p>
        </p:txBody>
      </p:sp>
      <p:sp>
        <p:nvSpPr>
          <p:cNvPr id="38" name="Shape 29"/>
          <p:cNvSpPr/>
          <p:nvPr/>
        </p:nvSpPr>
        <p:spPr>
          <a:xfrm>
            <a:off x="6094476" y="2606040"/>
            <a:ext cx="4447642" cy="45720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39" name="Shape 30"/>
          <p:cNvSpPr/>
          <p:nvPr/>
        </p:nvSpPr>
        <p:spPr>
          <a:xfrm>
            <a:off x="4265676" y="4709160"/>
            <a:ext cx="3657600" cy="457200"/>
          </a:xfrm>
          <a:prstGeom prst="roundRect">
            <a:avLst>
              <a:gd name="adj" fmla="val 14000"/>
            </a:avLst>
          </a:prstGeom>
          <a:solidFill>
            <a:srgbClr val="50808E"/>
          </a:solidFill>
          <a:ln/>
        </p:spPr>
      </p:sp>
      <p:pic>
        <p:nvPicPr>
          <p:cNvPr id="40" name="Image 7" descr="icon_networ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75404" y="4782312"/>
            <a:ext cx="310896" cy="310896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4768596" y="470916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RabbitMQ — barramento de eventos</a:t>
            </a:r>
            <a:endParaRPr lang="en-US" sz="1150" dirty="0"/>
          </a:p>
        </p:txBody>
      </p:sp>
      <p:sp>
        <p:nvSpPr>
          <p:cNvPr id="42" name="Shape 32"/>
          <p:cNvSpPr/>
          <p:nvPr/>
        </p:nvSpPr>
        <p:spPr>
          <a:xfrm>
            <a:off x="1645920" y="4206240"/>
            <a:ext cx="3076956" cy="50292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43" name="Shape 33"/>
          <p:cNvSpPr/>
          <p:nvPr/>
        </p:nvSpPr>
        <p:spPr>
          <a:xfrm>
            <a:off x="4611319" y="4206240"/>
            <a:ext cx="1025957" cy="50292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44" name="Shape 34"/>
          <p:cNvSpPr/>
          <p:nvPr/>
        </p:nvSpPr>
        <p:spPr>
          <a:xfrm flipH="1">
            <a:off x="6551676" y="4206240"/>
            <a:ext cx="1025042" cy="50292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45" name="Shape 35"/>
          <p:cNvSpPr/>
          <p:nvPr/>
        </p:nvSpPr>
        <p:spPr>
          <a:xfrm flipH="1">
            <a:off x="7466076" y="4206240"/>
            <a:ext cx="3076042" cy="502920"/>
          </a:xfrm>
          <a:prstGeom prst="line">
            <a:avLst/>
          </a:prstGeom>
          <a:noFill/>
          <a:ln w="15875">
            <a:solidFill>
              <a:srgbClr val="50808E"/>
            </a:solidFill>
            <a:prstDash val="solid"/>
            <a:tailEnd type="triangle"/>
          </a:ln>
        </p:spPr>
      </p:sp>
      <p:sp>
        <p:nvSpPr>
          <p:cNvPr id="46" name="Shape 36"/>
          <p:cNvSpPr/>
          <p:nvPr/>
        </p:nvSpPr>
        <p:spPr>
          <a:xfrm>
            <a:off x="457200" y="5394960"/>
            <a:ext cx="11274552" cy="1051560"/>
          </a:xfrm>
          <a:prstGeom prst="roundRect">
            <a:avLst>
              <a:gd name="adj" fmla="val 5217"/>
            </a:avLst>
          </a:prstGeom>
          <a:solidFill>
            <a:srgbClr val="E7E8D1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685800" y="5504688"/>
            <a:ext cx="108173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SAGA (adoção):  </a:t>
            </a:r>
            <a:pPr indent="0" marL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Adoção reserva o animal em Animais → valida o perfil do adotante em Identidade → publica evento no barramento → Notificações avisa o protetor/ONG responsável para aprovar.</a:t>
            </a:r>
            <a:endParaRPr lang="en-US" sz="11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100" b="1" dirty="0">
                <a:solidFill>
                  <a:srgbClr val="6B2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Compensação:  </a:t>
            </a:r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3A3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recusado ou expirado, Animais libera a reserva e Notificações avisa o adotante — sem deixar o animal preso a um pedido pendente.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2026-09-11T17:10:31Z</dcterms:created>
  <dcterms:modified xsi:type="dcterms:W3CDTF">2026-09-11T17:10:31Z</dcterms:modified>
</cp:coreProperties>
</file>